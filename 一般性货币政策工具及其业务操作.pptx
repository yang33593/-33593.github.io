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3"/>
    <p:sldMasterId id="2147483691" r:id="rId4"/>
    <p:sldMasterId id="2147483713" r:id="rId5"/>
    <p:sldMasterId id="2147483734" r:id="rId6"/>
  </p:sldMasterIdLst>
  <p:notesMasterIdLst>
    <p:notesMasterId r:id="rId8"/>
  </p:notesMasterIdLst>
  <p:handoutMasterIdLst>
    <p:handoutMasterId r:id="rId25"/>
  </p:handoutMasterIdLst>
  <p:sldIdLst>
    <p:sldId id="460" r:id="rId7"/>
    <p:sldId id="768" r:id="rId9"/>
    <p:sldId id="264" r:id="rId10"/>
    <p:sldId id="523" r:id="rId11"/>
    <p:sldId id="808" r:id="rId12"/>
    <p:sldId id="816" r:id="rId13"/>
    <p:sldId id="819" r:id="rId14"/>
    <p:sldId id="783" r:id="rId15"/>
    <p:sldId id="820" r:id="rId16"/>
    <p:sldId id="826" r:id="rId17"/>
    <p:sldId id="827" r:id="rId18"/>
    <p:sldId id="787" r:id="rId19"/>
    <p:sldId id="823" r:id="rId20"/>
    <p:sldId id="828" r:id="rId21"/>
    <p:sldId id="830" r:id="rId22"/>
    <p:sldId id="832" r:id="rId23"/>
    <p:sldId id="461" r:id="rId24"/>
  </p:sldIdLst>
  <p:sldSz cx="9144000" cy="5143500" type="screen16x9"/>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4" userDrawn="1">
          <p15:clr>
            <a:srgbClr val="A4A3A4"/>
          </p15:clr>
        </p15:guide>
        <p15:guide id="2" pos="287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ky123.Org" initials="" lastIdx="0" clrIdx="0"/>
  <p:cmAuthor id="1" name="马翠" initials="马" lastIdx="2" clrIdx="0"/>
  <p:cmAuthor id="264433420" name="左岸" initials="左"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5DA2"/>
    <a:srgbClr val="E8F2FD"/>
    <a:srgbClr val="CBE1FA"/>
    <a:srgbClr val="F79600"/>
    <a:srgbClr val="3992DB"/>
    <a:srgbClr val="0F1836"/>
    <a:srgbClr val="FDFDFD"/>
    <a:srgbClr val="D9D9D9"/>
    <a:srgbClr val="DC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35" autoAdjust="0"/>
    <p:restoredTop sz="94660" autoAdjust="0"/>
  </p:normalViewPr>
  <p:slideViewPr>
    <p:cSldViewPr showGuides="1">
      <p:cViewPr>
        <p:scale>
          <a:sx n="66" d="100"/>
          <a:sy n="66" d="100"/>
        </p:scale>
        <p:origin x="1951" y="1025"/>
      </p:cViewPr>
      <p:guideLst>
        <p:guide orient="horz" pos="1534"/>
        <p:guide pos="287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728"/>
        <p:guide pos="225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0" Type="http://schemas.openxmlformats.org/officeDocument/2006/relationships/tags" Target="tags/tag45.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大家好，欢迎来到《中央银行学》课程</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ClrTx/>
              <a:buSzTx/>
              <a:buFontTx/>
            </a:pPr>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40000"/>
              </a:lnSpc>
              <a:buFont typeface="Arial" panose="020B0604020202020204" pitchFamily="34" charset="0"/>
              <a:buNone/>
            </a:pP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lnSpc>
                <a:spcPct val="130000"/>
              </a:lnSpc>
            </a:pPr>
            <a:endParaRPr lang="zh-CN" altLang="en-US" b="1" dirty="0">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40000"/>
              </a:lnSpc>
              <a:buFont typeface="Arial" panose="020B0604020202020204" pitchFamily="34" charset="0"/>
              <a:buNone/>
            </a:pPr>
            <a:endParaRPr 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lnSpc>
                <a:spcPct val="130000"/>
              </a:lnSpc>
            </a:pPr>
            <a:endParaRPr lang="zh-CN" altLang="en-US" b="1" dirty="0">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buClrTx/>
              <a:buSzTx/>
              <a:buFontTx/>
            </a:pP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lnSpc>
                <a:spcPct val="130000"/>
              </a:lnSpc>
            </a:pPr>
            <a:endParaRPr lang="en-US" altLang="zh-CN" b="1" dirty="0">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90000"/>
              </a:lnSpc>
              <a:spcBef>
                <a:spcPct val="40000"/>
              </a:spcBef>
              <a:buClr>
                <a:srgbClr val="0000FF"/>
              </a:buClr>
              <a:buNone/>
            </a:pPr>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6775"/>
            <a:endParaRPr lang="zh-CN" altLang="en-US" b="1">
              <a:ea typeface="华文仿宋"/>
              <a:sym typeface="Arial" panose="020B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7932891C-557F-4DAE-9C62-7A437A8E1DF4}" type="datetimeFigureOut">
              <a:rPr lang="zh-CN" altLang="en-US" smtClean="0"/>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72CD6AF2-9DFB-4C20-B9F9-A186F19BBBF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sp>
        <p:nvSpPr>
          <p:cNvPr id="5" name="矩形 4"/>
          <p:cNvSpPr/>
          <p:nvPr userDrawn="1"/>
        </p:nvSpPr>
        <p:spPr>
          <a:xfrm>
            <a:off x="131961" y="983455"/>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6" name="TextBox 13"/>
          <p:cNvSpPr txBox="1">
            <a:spLocks noChangeArrowheads="1"/>
          </p:cNvSpPr>
          <p:nvPr userDrawn="1"/>
        </p:nvSpPr>
        <p:spPr bwMode="auto">
          <a:xfrm>
            <a:off x="372466" y="2504639"/>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7" name="TextBox 6"/>
          <p:cNvSpPr txBox="1">
            <a:spLocks noChangeArrowheads="1"/>
          </p:cNvSpPr>
          <p:nvPr userDrawn="1"/>
        </p:nvSpPr>
        <p:spPr bwMode="auto">
          <a:xfrm>
            <a:off x="2356048" y="2039105"/>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8" name="矩形 7"/>
          <p:cNvSpPr/>
          <p:nvPr userDrawn="1"/>
        </p:nvSpPr>
        <p:spPr>
          <a:xfrm>
            <a:off x="3680231" y="881617"/>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9" name="TextBox 13"/>
          <p:cNvSpPr txBox="1">
            <a:spLocks noChangeArrowheads="1"/>
          </p:cNvSpPr>
          <p:nvPr userDrawn="1"/>
        </p:nvSpPr>
        <p:spPr bwMode="auto">
          <a:xfrm>
            <a:off x="3920736" y="2402801"/>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10" name="TextBox 9"/>
          <p:cNvSpPr txBox="1">
            <a:spLocks noChangeArrowheads="1"/>
          </p:cNvSpPr>
          <p:nvPr userDrawn="1"/>
        </p:nvSpPr>
        <p:spPr bwMode="auto">
          <a:xfrm>
            <a:off x="5904317" y="1937267"/>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7932891C-557F-4DAE-9C62-7A437A8E1DF4}" type="datetimeFigureOut">
              <a:rPr lang="zh-CN" altLang="en-US" smtClean="0"/>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72CD6AF2-9DFB-4C20-B9F9-A186F19BBBF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7932891C-557F-4DAE-9C62-7A437A8E1DF4}" type="datetimeFigureOut">
              <a:rPr lang="zh-CN" altLang="en-US" smtClean="0"/>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72CD6AF2-9DFB-4C20-B9F9-A186F19BBBF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sp>
        <p:nvSpPr>
          <p:cNvPr id="5" name="矩形 4"/>
          <p:cNvSpPr/>
          <p:nvPr userDrawn="1"/>
        </p:nvSpPr>
        <p:spPr>
          <a:xfrm>
            <a:off x="131961" y="983455"/>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6" name="TextBox 13"/>
          <p:cNvSpPr txBox="1">
            <a:spLocks noChangeArrowheads="1"/>
          </p:cNvSpPr>
          <p:nvPr userDrawn="1"/>
        </p:nvSpPr>
        <p:spPr bwMode="auto">
          <a:xfrm>
            <a:off x="372466" y="2504639"/>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7" name="TextBox 6"/>
          <p:cNvSpPr txBox="1">
            <a:spLocks noChangeArrowheads="1"/>
          </p:cNvSpPr>
          <p:nvPr userDrawn="1"/>
        </p:nvSpPr>
        <p:spPr bwMode="auto">
          <a:xfrm>
            <a:off x="2356048" y="2039105"/>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8" name="矩形 7"/>
          <p:cNvSpPr/>
          <p:nvPr userDrawn="1"/>
        </p:nvSpPr>
        <p:spPr>
          <a:xfrm>
            <a:off x="3680231" y="881617"/>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9" name="TextBox 13"/>
          <p:cNvSpPr txBox="1">
            <a:spLocks noChangeArrowheads="1"/>
          </p:cNvSpPr>
          <p:nvPr userDrawn="1"/>
        </p:nvSpPr>
        <p:spPr bwMode="auto">
          <a:xfrm>
            <a:off x="3920736" y="2402801"/>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10" name="TextBox 9"/>
          <p:cNvSpPr txBox="1">
            <a:spLocks noChangeArrowheads="1"/>
          </p:cNvSpPr>
          <p:nvPr userDrawn="1"/>
        </p:nvSpPr>
        <p:spPr bwMode="auto">
          <a:xfrm>
            <a:off x="5904317" y="1937267"/>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7932891C-557F-4DAE-9C62-7A437A8E1DF4}" type="datetimeFigureOut">
              <a:rPr lang="zh-CN" altLang="en-US" smtClean="0"/>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72CD6AF2-9DFB-4C20-B9F9-A186F19BBBF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7932891C-557F-4DAE-9C62-7A437A8E1DF4}" type="datetimeFigureOut">
              <a:rPr lang="zh-CN" altLang="en-US" smtClean="0"/>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72CD6AF2-9DFB-4C20-B9F9-A186F19BBBF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sp>
        <p:nvSpPr>
          <p:cNvPr id="5" name="矩形 4"/>
          <p:cNvSpPr/>
          <p:nvPr userDrawn="1"/>
        </p:nvSpPr>
        <p:spPr>
          <a:xfrm>
            <a:off x="131961" y="983455"/>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6" name="TextBox 13"/>
          <p:cNvSpPr txBox="1">
            <a:spLocks noChangeArrowheads="1"/>
          </p:cNvSpPr>
          <p:nvPr userDrawn="1"/>
        </p:nvSpPr>
        <p:spPr bwMode="auto">
          <a:xfrm>
            <a:off x="372466" y="2504639"/>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7" name="TextBox 6"/>
          <p:cNvSpPr txBox="1">
            <a:spLocks noChangeArrowheads="1"/>
          </p:cNvSpPr>
          <p:nvPr userDrawn="1"/>
        </p:nvSpPr>
        <p:spPr bwMode="auto">
          <a:xfrm>
            <a:off x="2356048" y="2039105"/>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8" name="矩形 7"/>
          <p:cNvSpPr/>
          <p:nvPr userDrawn="1"/>
        </p:nvSpPr>
        <p:spPr>
          <a:xfrm>
            <a:off x="3680231" y="881617"/>
            <a:ext cx="1697831" cy="1588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solidFill>
                <a:schemeClr val="bg1"/>
              </a:solidFill>
            </a:endParaRPr>
          </a:p>
        </p:txBody>
      </p:sp>
      <p:sp>
        <p:nvSpPr>
          <p:cNvPr id="9" name="TextBox 13"/>
          <p:cNvSpPr txBox="1">
            <a:spLocks noChangeArrowheads="1"/>
          </p:cNvSpPr>
          <p:nvPr userDrawn="1"/>
        </p:nvSpPr>
        <p:spPr bwMode="auto">
          <a:xfrm>
            <a:off x="3920736" y="2402801"/>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
        <p:nvSpPr>
          <p:cNvPr id="10" name="TextBox 9"/>
          <p:cNvSpPr txBox="1">
            <a:spLocks noChangeArrowheads="1"/>
          </p:cNvSpPr>
          <p:nvPr userDrawn="1"/>
        </p:nvSpPr>
        <p:spPr bwMode="auto">
          <a:xfrm>
            <a:off x="5904317" y="1937267"/>
            <a:ext cx="37338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50" dirty="0" smtClean="0">
                <a:solidFill>
                  <a:schemeClr val="bg1"/>
                </a:solidFill>
              </a:rPr>
              <a:t>紫郁远近若素精品制作</a:t>
            </a:r>
            <a:endParaRPr lang="zh-CN" altLang="en-US" sz="150" dirty="0" smtClean="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1" Type="http://schemas.openxmlformats.org/officeDocument/2006/relationships/theme" Target="../theme/theme2.xml"/><Relationship Id="rId20" Type="http://schemas.openxmlformats.org/officeDocument/2006/relationships/slideLayout" Target="../slideLayouts/slideLayout41.xml"/><Relationship Id="rId2" Type="http://schemas.openxmlformats.org/officeDocument/2006/relationships/slideLayout" Target="../slideLayouts/slideLayout23.xml"/><Relationship Id="rId19" Type="http://schemas.openxmlformats.org/officeDocument/2006/relationships/slideLayout" Target="../slideLayouts/slideLayout40.xml"/><Relationship Id="rId18" Type="http://schemas.openxmlformats.org/officeDocument/2006/relationships/slideLayout" Target="../slideLayouts/slideLayout39.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0.xml"/><Relationship Id="rId8" Type="http://schemas.openxmlformats.org/officeDocument/2006/relationships/slideLayout" Target="../slideLayouts/slideLayout49.xml"/><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2" Type="http://schemas.openxmlformats.org/officeDocument/2006/relationships/theme" Target="../theme/theme3.xml"/><Relationship Id="rId21" Type="http://schemas.openxmlformats.org/officeDocument/2006/relationships/slideLayout" Target="../slideLayouts/slideLayout62.xml"/><Relationship Id="rId20" Type="http://schemas.openxmlformats.org/officeDocument/2006/relationships/slideLayout" Target="../slideLayouts/slideLayout61.xml"/><Relationship Id="rId2" Type="http://schemas.openxmlformats.org/officeDocument/2006/relationships/slideLayout" Target="../slideLayouts/slideLayout43.xml"/><Relationship Id="rId19" Type="http://schemas.openxmlformats.org/officeDocument/2006/relationships/slideLayout" Target="../slideLayouts/slideLayout60.xml"/><Relationship Id="rId18" Type="http://schemas.openxmlformats.org/officeDocument/2006/relationships/slideLayout" Target="../slideLayouts/slideLayout59.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1"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71.xml"/><Relationship Id="rId8" Type="http://schemas.openxmlformats.org/officeDocument/2006/relationships/slideLayout" Target="../slideLayouts/slideLayout70.xml"/><Relationship Id="rId7" Type="http://schemas.openxmlformats.org/officeDocument/2006/relationships/slideLayout" Target="../slideLayouts/slideLayout69.xml"/><Relationship Id="rId6" Type="http://schemas.openxmlformats.org/officeDocument/2006/relationships/slideLayout" Target="../slideLayouts/slideLayout68.xml"/><Relationship Id="rId5" Type="http://schemas.openxmlformats.org/officeDocument/2006/relationships/slideLayout" Target="../slideLayouts/slideLayout67.xml"/><Relationship Id="rId4" Type="http://schemas.openxmlformats.org/officeDocument/2006/relationships/slideLayout" Target="../slideLayouts/slideLayout66.xml"/><Relationship Id="rId3" Type="http://schemas.openxmlformats.org/officeDocument/2006/relationships/slideLayout" Target="../slideLayouts/slideLayout65.xml"/><Relationship Id="rId21" Type="http://schemas.openxmlformats.org/officeDocument/2006/relationships/theme" Target="../theme/theme4.xml"/><Relationship Id="rId20" Type="http://schemas.openxmlformats.org/officeDocument/2006/relationships/slideLayout" Target="../slideLayouts/slideLayout82.xml"/><Relationship Id="rId2" Type="http://schemas.openxmlformats.org/officeDocument/2006/relationships/slideLayout" Target="../slideLayouts/slideLayout64.xml"/><Relationship Id="rId19" Type="http://schemas.openxmlformats.org/officeDocument/2006/relationships/slideLayout" Target="../slideLayouts/slideLayout81.xml"/><Relationship Id="rId18" Type="http://schemas.openxmlformats.org/officeDocument/2006/relationships/slideLayout" Target="../slideLayouts/slideLayout80.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3" Type="http://schemas.openxmlformats.org/officeDocument/2006/relationships/slideLayout" Target="../slideLayouts/slideLayout75.xml"/><Relationship Id="rId12" Type="http://schemas.openxmlformats.org/officeDocument/2006/relationships/slideLayout" Target="../slideLayouts/slideLayout74.xml"/><Relationship Id="rId11" Type="http://schemas.openxmlformats.org/officeDocument/2006/relationships/slideLayout" Target="../slideLayouts/slideLayout73.xml"/><Relationship Id="rId10" Type="http://schemas.openxmlformats.org/officeDocument/2006/relationships/slideLayout" Target="../slideLayouts/slideLayout72.xml"/><Relationship Id="rId1"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1.xml"/><Relationship Id="rId8" Type="http://schemas.openxmlformats.org/officeDocument/2006/relationships/slideLayout" Target="../slideLayouts/slideLayout90.xml"/><Relationship Id="rId7" Type="http://schemas.openxmlformats.org/officeDocument/2006/relationships/slideLayout" Target="../slideLayouts/slideLayout89.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 Id="rId3" Type="http://schemas.openxmlformats.org/officeDocument/2006/relationships/slideLayout" Target="../slideLayouts/slideLayout85.xml"/><Relationship Id="rId22" Type="http://schemas.openxmlformats.org/officeDocument/2006/relationships/theme" Target="../theme/theme5.xml"/><Relationship Id="rId21" Type="http://schemas.openxmlformats.org/officeDocument/2006/relationships/slideLayout" Target="../slideLayouts/slideLayout103.xml"/><Relationship Id="rId20" Type="http://schemas.openxmlformats.org/officeDocument/2006/relationships/slideLayout" Target="../slideLayouts/slideLayout102.xml"/><Relationship Id="rId2" Type="http://schemas.openxmlformats.org/officeDocument/2006/relationships/slideLayout" Target="../slideLayouts/slideLayout84.xml"/><Relationship Id="rId19" Type="http://schemas.openxmlformats.org/officeDocument/2006/relationships/slideLayout" Target="../slideLayouts/slideLayout101.xml"/><Relationship Id="rId18" Type="http://schemas.openxmlformats.org/officeDocument/2006/relationships/slideLayout" Target="../slideLayouts/slideLayout100.xml"/><Relationship Id="rId17" Type="http://schemas.openxmlformats.org/officeDocument/2006/relationships/slideLayout" Target="../slideLayouts/slideLayout99.xml"/><Relationship Id="rId16" Type="http://schemas.openxmlformats.org/officeDocument/2006/relationships/slideLayout" Target="../slideLayouts/slideLayout98.xml"/><Relationship Id="rId15" Type="http://schemas.openxmlformats.org/officeDocument/2006/relationships/slideLayout" Target="../slideLayouts/slideLayout97.xml"/><Relationship Id="rId14" Type="http://schemas.openxmlformats.org/officeDocument/2006/relationships/slideLayout" Target="../slideLayouts/slideLayout96.xml"/><Relationship Id="rId13" Type="http://schemas.openxmlformats.org/officeDocument/2006/relationships/slideLayout" Target="../slideLayouts/slideLayout95.xml"/><Relationship Id="rId12" Type="http://schemas.openxmlformats.org/officeDocument/2006/relationships/slideLayout" Target="../slideLayouts/slideLayout94.xml"/><Relationship Id="rId11" Type="http://schemas.openxmlformats.org/officeDocument/2006/relationships/slideLayout" Target="../slideLayouts/slideLayout93.xml"/><Relationship Id="rId10" Type="http://schemas.openxmlformats.org/officeDocument/2006/relationships/slideLayout" Target="../slideLayouts/slideLayout92.xml"/><Relationship Id="rId1"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mc:AlternateContent xmlns:mc="http://schemas.openxmlformats.org/markup-compatibility/2006">
    <mc:Choice xmlns:p14="http://schemas.microsoft.com/office/powerpoint/2010/main" Requires="p14">
      <p:transition p14:dur="500">
        <p:pull/>
      </p:transition>
    </mc:Choice>
    <mc:Fallback>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mc:AlternateContent xmlns:mc="http://schemas.openxmlformats.org/markup-compatibility/2006">
    <mc:Choice xmlns:p14="http://schemas.microsoft.com/office/powerpoint/2010/main" Requires="p14">
      <p:transition p14:dur="500">
        <p:pull/>
      </p:transition>
    </mc:Choice>
    <mc:Fallback>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Lst>
  <mc:AlternateContent xmlns:mc="http://schemas.openxmlformats.org/markup-compatibility/2006">
    <mc:Choice xmlns:p14="http://schemas.microsoft.com/office/powerpoint/2010/main" Requires="p14">
      <p:transition p14:dur="500">
        <p:pull/>
      </p:transition>
    </mc:Choice>
    <mc:Fallback>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Lst>
  <mc:AlternateContent xmlns:mc="http://schemas.openxmlformats.org/markup-compatibility/2006">
    <mc:Choice xmlns:p14="http://schemas.microsoft.com/office/powerpoint/2010/main" Requires="p14">
      <p:transition p14:dur="500">
        <p:pull/>
      </p:transition>
    </mc:Choice>
    <mc:Fallback>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Lst>
  <mc:AlternateContent xmlns:mc="http://schemas.openxmlformats.org/markup-compatibility/2006">
    <mc:Choice xmlns:p14="http://schemas.microsoft.com/office/powerpoint/2010/main" Requires="p14">
      <p:transition p14:dur="500">
        <p:pull/>
      </p:transition>
    </mc:Choice>
    <mc:Fallback>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xml"/><Relationship Id="rId7"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ags" Target="../tags/tag2.xml"/><Relationship Id="rId3" Type="http://schemas.openxmlformats.org/officeDocument/2006/relationships/image" Target="../media/image1.emf"/><Relationship Id="rId2" Type="http://schemas.openxmlformats.org/officeDocument/2006/relationships/oleObject" Target="../embeddings/oleObject1.bin"/><Relationship Id="rId10" Type="http://schemas.openxmlformats.org/officeDocument/2006/relationships/notesSlide" Target="../notesSlides/notesSl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0" Type="http://schemas.openxmlformats.org/officeDocument/2006/relationships/notesSlide" Target="../notesSlides/notesSlide3.xml"/><Relationship Id="rId2" Type="http://schemas.openxmlformats.org/officeDocument/2006/relationships/tags" Target="../tags/tag5.xml"/><Relationship Id="rId19" Type="http://schemas.openxmlformats.org/officeDocument/2006/relationships/slideLayout" Target="../slideLayouts/slideLayout3.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41.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6.png"/><Relationship Id="rId2" Type="http://schemas.openxmlformats.org/officeDocument/2006/relationships/tags" Target="../tags/tag23.xml"/><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3.xml"/><Relationship Id="rId2" Type="http://schemas.openxmlformats.org/officeDocument/2006/relationships/image" Target="../media/image5.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6.png"/><Relationship Id="rId2" Type="http://schemas.openxmlformats.org/officeDocument/2006/relationships/tags" Target="../tags/tag29.xml"/><Relationship Id="rId11" Type="http://schemas.openxmlformats.org/officeDocument/2006/relationships/notesSlide" Target="../notesSlides/notesSlide10.xml"/><Relationship Id="rId10" Type="http://schemas.openxmlformats.org/officeDocument/2006/relationships/slideLayout" Target="../slideLayouts/slideLayout82.xml"/><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0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xml"/><Relationship Id="rId7" Type="http://schemas.openxmlformats.org/officeDocument/2006/relationships/tags" Target="../tags/tag44.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ags" Target="../tags/tag43.xml"/><Relationship Id="rId3" Type="http://schemas.openxmlformats.org/officeDocument/2006/relationships/image" Target="../media/image1.emf"/><Relationship Id="rId2" Type="http://schemas.openxmlformats.org/officeDocument/2006/relationships/oleObject" Target="../embeddings/oleObject2.bin"/><Relationship Id="rId10" Type="http://schemas.openxmlformats.org/officeDocument/2006/relationships/notesSlide" Target="../notesSlides/notesSlide17.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685" y="1192"/>
          <a:ext cx="1191" cy="1191"/>
        </p:xfrm>
        <a:graphic>
          <a:graphicData uri="http://schemas.openxmlformats.org/presentationml/2006/ole">
            <mc:AlternateContent xmlns:mc="http://schemas.openxmlformats.org/markup-compatibility/2006">
              <mc:Choice xmlns:v="urn:schemas-microsoft-com:vml" Requires="v">
                <p:oleObj spid="_x0000_s1063" name="think-cell Slide" r:id="rId2" imgW="9525" imgH="9525" progId="TCLayout.ActiveDocument.1">
                  <p:embed/>
                </p:oleObj>
              </mc:Choice>
              <mc:Fallback>
                <p:oleObj name="think-cell Slide" r:id="rId2" imgW="9525" imgH="9525" progId="TCLayout.ActiveDocument.1">
                  <p:embed/>
                  <p:pic>
                    <p:nvPicPr>
                      <p:cNvPr id="0" name="图片 1050"/>
                      <p:cNvPicPr/>
                      <p:nvPr/>
                    </p:nvPicPr>
                    <p:blipFill>
                      <a:blip r:embed="rId3"/>
                      <a:stretch>
                        <a:fillRect/>
                      </a:stretch>
                    </p:blipFill>
                    <p:spPr>
                      <a:xfrm>
                        <a:off x="1685" y="1192"/>
                        <a:ext cx="1191" cy="1191"/>
                      </a:xfrm>
                      <a:prstGeom prst="rect">
                        <a:avLst/>
                      </a:prstGeom>
                    </p:spPr>
                  </p:pic>
                </p:oleObj>
              </mc:Fallback>
            </mc:AlternateContent>
          </a:graphicData>
        </a:graphic>
      </p:graphicFrame>
      <p:sp>
        <p:nvSpPr>
          <p:cNvPr id="2" name="矩形 1" hidden="1"/>
          <p:cNvSpPr/>
          <p:nvPr>
            <p:custDataLst>
              <p:tags r:id="rId4"/>
            </p:custDataLst>
          </p:nvPr>
        </p:nvSpPr>
        <p:spPr>
          <a:xfrm>
            <a:off x="494" y="0"/>
            <a:ext cx="119054" cy="119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latin typeface="Arial" panose="020B0604020202020204" pitchFamily="34" charset="0"/>
              <a:ea typeface="微软雅黑" panose="020B0503020204020204" pitchFamily="34" charset="-122"/>
              <a:cs typeface="+mj-cs"/>
              <a:sym typeface="Arial" panose="020B0604020202020204" pitchFamily="34" charset="0"/>
            </a:endParaRPr>
          </a:p>
        </p:txBody>
      </p:sp>
      <p:grpSp>
        <p:nvGrpSpPr>
          <p:cNvPr id="5" name="组合 4"/>
          <p:cNvGrpSpPr/>
          <p:nvPr/>
        </p:nvGrpSpPr>
        <p:grpSpPr>
          <a:xfrm>
            <a:off x="5148081" y="916134"/>
            <a:ext cx="3402957" cy="3415387"/>
            <a:chOff x="5148858" y="916360"/>
            <a:chExt cx="3403797" cy="3416230"/>
          </a:xfrm>
        </p:grpSpPr>
        <p:sp>
          <p:nvSpPr>
            <p:cNvPr id="11" name="空心弧 10"/>
            <p:cNvSpPr/>
            <p:nvPr/>
          </p:nvSpPr>
          <p:spPr>
            <a:xfrm rot="9058792">
              <a:off x="5162499" y="941975"/>
              <a:ext cx="3390156" cy="3390615"/>
            </a:xfrm>
            <a:prstGeom prst="blockArc">
              <a:avLst>
                <a:gd name="adj1" fmla="val 12553498"/>
                <a:gd name="adj2" fmla="val 21168193"/>
                <a:gd name="adj3" fmla="val 5334"/>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solidFill>
                  <a:schemeClr val="tx1"/>
                </a:solidFill>
              </a:endParaRPr>
            </a:p>
          </p:txBody>
        </p:sp>
        <p:sp>
          <p:nvSpPr>
            <p:cNvPr id="9" name="空心弧 8"/>
            <p:cNvSpPr/>
            <p:nvPr/>
          </p:nvSpPr>
          <p:spPr>
            <a:xfrm>
              <a:off x="5148858" y="916360"/>
              <a:ext cx="3390156" cy="3390615"/>
            </a:xfrm>
            <a:prstGeom prst="blockArc">
              <a:avLst>
                <a:gd name="adj1" fmla="val 9123074"/>
                <a:gd name="adj2" fmla="val 21168193"/>
                <a:gd name="adj3" fmla="val 5334"/>
              </a:avLst>
            </a:prstGeom>
            <a:solidFill>
              <a:srgbClr val="245D9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solidFill>
                  <a:schemeClr val="tx1"/>
                </a:solidFill>
              </a:endParaRPr>
            </a:p>
          </p:txBody>
        </p:sp>
      </p:grpSp>
      <p:sp>
        <p:nvSpPr>
          <p:cNvPr id="10" name="矩形 9"/>
          <p:cNvSpPr/>
          <p:nvPr/>
        </p:nvSpPr>
        <p:spPr>
          <a:xfrm>
            <a:off x="493" y="3219821"/>
            <a:ext cx="5348354" cy="205316"/>
          </a:xfrm>
          <a:prstGeom prst="rect">
            <a:avLst/>
          </a:prstGeom>
          <a:solidFill>
            <a:srgbClr val="245D9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p>
        </p:txBody>
      </p:sp>
      <p:sp>
        <p:nvSpPr>
          <p:cNvPr id="12" name="矩形 11"/>
          <p:cNvSpPr/>
          <p:nvPr/>
        </p:nvSpPr>
        <p:spPr>
          <a:xfrm rot="10800000">
            <a:off x="8358173" y="2586827"/>
            <a:ext cx="854229" cy="1755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p>
        </p:txBody>
      </p:sp>
      <p:sp>
        <p:nvSpPr>
          <p:cNvPr id="18" name="矩形 259"/>
          <p:cNvSpPr>
            <a:spLocks noChangeArrowheads="1"/>
          </p:cNvSpPr>
          <p:nvPr/>
        </p:nvSpPr>
        <p:spPr bwMode="auto">
          <a:xfrm>
            <a:off x="620554" y="1399699"/>
            <a:ext cx="4150995" cy="830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5400" b="1" cap="all" dirty="0">
                <a:solidFill>
                  <a:srgbClr val="245D90"/>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中央银行学</a:t>
            </a:r>
            <a:endParaRPr lang="zh-CN" altLang="en-US" sz="5400" b="1" cap="all" dirty="0">
              <a:solidFill>
                <a:srgbClr val="245D90"/>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sp>
        <p:nvSpPr>
          <p:cNvPr id="20" name="矩形 259"/>
          <p:cNvSpPr>
            <a:spLocks noChangeArrowheads="1"/>
          </p:cNvSpPr>
          <p:nvPr/>
        </p:nvSpPr>
        <p:spPr bwMode="auto">
          <a:xfrm>
            <a:off x="315595" y="2435860"/>
            <a:ext cx="476694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ClrTx/>
              <a:buSzTx/>
              <a:buNone/>
            </a:pPr>
            <a:r>
              <a:rPr lang="en-US" altLang="zh-CN" sz="2400" b="1" i="1" dirty="0">
                <a:effectLst/>
                <a:latin typeface="Times New Roman" panose="02020603050405020304" charset="0"/>
                <a:cs typeface="Times New Roman" panose="02020603050405020304" charset="0"/>
                <a:sym typeface="+mn-ea"/>
              </a:rPr>
              <a:t>Central Banking</a:t>
            </a:r>
            <a:endParaRPr lang="en-US" altLang="zh-CN" sz="2400" b="1" i="1" dirty="0">
              <a:effectLst/>
              <a:latin typeface="Times New Roman" panose="02020603050405020304" charset="0"/>
              <a:cs typeface="Times New Roman" panose="02020603050405020304" charset="0"/>
              <a:sym typeface="+mn-ea"/>
            </a:endParaRPr>
          </a:p>
        </p:txBody>
      </p:sp>
      <p:grpSp>
        <p:nvGrpSpPr>
          <p:cNvPr id="85" name="组合 84"/>
          <p:cNvGrpSpPr/>
          <p:nvPr/>
        </p:nvGrpSpPr>
        <p:grpSpPr>
          <a:xfrm>
            <a:off x="1188720" y="3783965"/>
            <a:ext cx="4328795" cy="328930"/>
            <a:chOff x="6416934" y="1704682"/>
            <a:chExt cx="1854416" cy="432457"/>
          </a:xfrm>
        </p:grpSpPr>
        <p:sp>
          <p:nvSpPr>
            <p:cNvPr id="86" name="矩形 85"/>
            <p:cNvSpPr/>
            <p:nvPr/>
          </p:nvSpPr>
          <p:spPr>
            <a:xfrm>
              <a:off x="6416934" y="1704682"/>
              <a:ext cx="1289382" cy="432457"/>
            </a:xfrm>
            <a:prstGeom prst="rect">
              <a:avLst/>
            </a:prstGeom>
            <a:solidFill>
              <a:srgbClr val="245D9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600" dirty="0">
                <a:latin typeface="汉仪雅酷黑 75W" panose="020B0804020202020204" charset="-122"/>
                <a:ea typeface="汉仪雅酷黑 75W" panose="020B0804020202020204" charset="-122"/>
                <a:sym typeface="Century Gothic" panose="020B0502020202020204" pitchFamily="34" charset="0"/>
              </a:endParaRPr>
            </a:p>
          </p:txBody>
        </p:sp>
        <p:sp>
          <p:nvSpPr>
            <p:cNvPr id="87" name="文本框 86"/>
            <p:cNvSpPr txBox="1"/>
            <p:nvPr/>
          </p:nvSpPr>
          <p:spPr>
            <a:xfrm>
              <a:off x="6470039" y="1704682"/>
              <a:ext cx="1801311" cy="403237"/>
            </a:xfrm>
            <a:prstGeom prst="rect">
              <a:avLst/>
            </a:prstGeom>
            <a:noFill/>
          </p:spPr>
          <p:txBody>
            <a:bodyPr wrap="square" rtlCol="0">
              <a:spAutoFit/>
              <a:scene3d>
                <a:camera prst="orthographicFront"/>
                <a:lightRig rig="threePt" dir="t"/>
              </a:scene3d>
              <a:sp3d contourW="12700"/>
            </a:bodyPr>
            <a:lstStyle/>
            <a:p>
              <a:r>
                <a:rPr lang="zh-CN" sz="1400" dirty="0">
                  <a:solidFill>
                    <a:schemeClr val="bg1"/>
                  </a:solidFill>
                  <a:latin typeface="汉仪雅酷黑 75W" panose="020B0804020202020204" charset="-122"/>
                  <a:ea typeface="汉仪雅酷黑 75W" panose="020B0804020202020204" charset="-122"/>
                  <a:cs typeface="汉仪雅酷黑 75W" panose="020B0804020202020204" charset="-122"/>
                  <a:sym typeface="Century Gothic" panose="020B0502020202020204" pitchFamily="34" charset="0"/>
                </a:rPr>
                <a:t>主讲人：经济管理学院  马翠</a:t>
              </a:r>
              <a:endParaRPr lang="en-US" altLang="zh-CN" sz="1400" dirty="0">
                <a:solidFill>
                  <a:schemeClr val="bg1"/>
                </a:solidFill>
                <a:latin typeface="汉仪雅酷黑 75W" panose="020B0804020202020204" charset="-122"/>
                <a:ea typeface="汉仪雅酷黑 75W" panose="020B0804020202020204" charset="-122"/>
                <a:cs typeface="汉仪雅酷黑 75W" panose="020B0804020202020204" charset="-122"/>
                <a:sym typeface="Century Gothic" panose="020B0502020202020204" pitchFamily="34" charset="0"/>
              </a:endParaRPr>
            </a:p>
          </p:txBody>
        </p:sp>
      </p:grpSp>
      <p:pic>
        <p:nvPicPr>
          <p:cNvPr id="4" name="图片 3" descr="src=http_%2F%2Fdpic.tiankong.com%2Fl9%2Fc6%2FQJ9109085842.jpg&amp;refer=http_%2F%2Fdpic.tiankong"/>
          <p:cNvPicPr>
            <a:picLocks noChangeAspect="1"/>
          </p:cNvPicPr>
          <p:nvPr/>
        </p:nvPicPr>
        <p:blipFill>
          <a:blip r:embed="rId5"/>
          <a:srcRect l="34517" t="804" r="3617" b="1383"/>
          <a:stretch>
            <a:fillRect/>
          </a:stretch>
        </p:blipFill>
        <p:spPr>
          <a:xfrm>
            <a:off x="5375910" y="1144270"/>
            <a:ext cx="2934335" cy="2934335"/>
          </a:xfrm>
          <a:prstGeom prst="ellipse">
            <a:avLst/>
          </a:prstGeom>
        </p:spPr>
      </p:pic>
      <p:sp>
        <p:nvSpPr>
          <p:cNvPr id="17" name="椭圆 16"/>
          <p:cNvSpPr/>
          <p:nvPr/>
        </p:nvSpPr>
        <p:spPr>
          <a:xfrm>
            <a:off x="5374640" y="1143635"/>
            <a:ext cx="2935605" cy="2934970"/>
          </a:xfrm>
          <a:prstGeom prst="ellipse">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122 - 副本"/>
          <p:cNvPicPr>
            <a:picLocks noChangeAspect="1"/>
          </p:cNvPicPr>
          <p:nvPr/>
        </p:nvPicPr>
        <p:blipFill>
          <a:blip r:embed="rId6"/>
          <a:stretch>
            <a:fillRect/>
          </a:stretch>
        </p:blipFill>
        <p:spPr>
          <a:xfrm>
            <a:off x="97155" y="25400"/>
            <a:ext cx="1799590" cy="633095"/>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5"/>
                                        </p:tgtEl>
                                        <p:attrNameLst>
                                          <p:attrName>style.visibility</p:attrName>
                                        </p:attrNameLst>
                                      </p:cBhvr>
                                      <p:to>
                                        <p:strVal val="visible"/>
                                      </p:to>
                                    </p:set>
                                    <p:anim calcmode="lin" valueType="num">
                                      <p:cBhvr additive="base">
                                        <p:cTn id="23" dur="500" fill="hold"/>
                                        <p:tgtEl>
                                          <p:spTgt spid="85"/>
                                        </p:tgtEl>
                                        <p:attrNameLst>
                                          <p:attrName>ppt_x</p:attrName>
                                        </p:attrNameLst>
                                      </p:cBhvr>
                                      <p:tavLst>
                                        <p:tav tm="0">
                                          <p:val>
                                            <p:strVal val="#ppt_x"/>
                                          </p:val>
                                        </p:tav>
                                        <p:tav tm="100000">
                                          <p:val>
                                            <p:strVal val="#ppt_x"/>
                                          </p:val>
                                        </p:tav>
                                      </p:tavLst>
                                    </p:anim>
                                    <p:anim calcmode="lin" valueType="num">
                                      <p:cBhvr additive="base">
                                        <p:cTn id="24" dur="500" fill="hold"/>
                                        <p:tgtEl>
                                          <p:spTgt spid="8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8" grpId="0" animBg="1"/>
      <p:bldP spid="20" grpId="0"/>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691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sp>
        <p:nvSpPr>
          <p:cNvPr id="49" name="TextBox 48"/>
          <p:cNvSpPr txBox="1"/>
          <p:nvPr/>
        </p:nvSpPr>
        <p:spPr>
          <a:xfrm>
            <a:off x="2700655" y="2041525"/>
            <a:ext cx="5603240" cy="1176020"/>
          </a:xfrm>
          <a:prstGeom prst="rect">
            <a:avLst/>
          </a:prstGeom>
          <a:noFill/>
        </p:spPr>
        <p:txBody>
          <a:bodyPr wrap="square" lIns="68584" tIns="34291" rIns="68584" bIns="34291" rtlCol="0">
            <a:spAutoFit/>
          </a:bodyPr>
          <a:lstStyle/>
          <a:p>
            <a:pPr algn="ctr"/>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一般性货币政策工具及其业务操作</a:t>
            </a:r>
            <a:endPar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ext Placeholder 4"/>
          <p:cNvSpPr txBox="1"/>
          <p:nvPr/>
        </p:nvSpPr>
        <p:spPr>
          <a:xfrm>
            <a:off x="611560" y="429469"/>
            <a:ext cx="2256285" cy="49678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chemeClr val="accent1"/>
                </a:solidFill>
                <a:latin typeface="微软雅黑" panose="020B0503020204020204" pitchFamily="34" charset="-122"/>
                <a:ea typeface="微软雅黑" panose="020B0503020204020204" pitchFamily="34" charset="-122"/>
              </a:rPr>
              <a:t>目录</a:t>
            </a:r>
            <a:r>
              <a:rPr lang="en-US" altLang="zh-CN" b="1" dirty="0">
                <a:solidFill>
                  <a:schemeClr val="accent1"/>
                </a:solidFill>
                <a:latin typeface="微软雅黑" panose="020B0503020204020204" pitchFamily="34" charset="-122"/>
                <a:ea typeface="微软雅黑" panose="020B0503020204020204" pitchFamily="34" charset="-122"/>
              </a:rPr>
              <a:t>/</a:t>
            </a:r>
            <a:r>
              <a:rPr lang="en-US" altLang="zh-CN" sz="1800" b="1" dirty="0">
                <a:solidFill>
                  <a:schemeClr val="accent1"/>
                </a:solidFill>
                <a:latin typeface="微软雅黑" panose="020B0503020204020204" pitchFamily="34" charset="-122"/>
                <a:ea typeface="微软雅黑" panose="020B0503020204020204" pitchFamily="34" charset="-122"/>
              </a:rPr>
              <a:t>Contents</a:t>
            </a:r>
            <a:endParaRPr lang="en-GB" sz="1800" b="1" dirty="0">
              <a:solidFill>
                <a:schemeClr val="accent1"/>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738572" y="1059582"/>
            <a:ext cx="76498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custDataLst>
              <p:tags r:id="rId1"/>
            </p:custDataLst>
          </p:nvPr>
        </p:nvGrpSpPr>
        <p:grpSpPr>
          <a:xfrm>
            <a:off x="905288" y="2619772"/>
            <a:ext cx="910769" cy="521970"/>
            <a:chOff x="912328" y="952399"/>
            <a:chExt cx="1267710" cy="956962"/>
          </a:xfrm>
        </p:grpSpPr>
        <p:sp>
          <p:nvSpPr>
            <p:cNvPr id="46" name="平行四边形 45"/>
            <p:cNvSpPr/>
            <p:nvPr>
              <p:custDataLst>
                <p:tags r:id="rId2"/>
              </p:custDataLst>
            </p:nvPr>
          </p:nvSpPr>
          <p:spPr>
            <a:xfrm>
              <a:off x="912328" y="979351"/>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47" name="文本框 9"/>
            <p:cNvSpPr txBox="1"/>
            <p:nvPr>
              <p:custDataLst>
                <p:tags r:id="rId3"/>
              </p:custDataLst>
            </p:nvPr>
          </p:nvSpPr>
          <p:spPr>
            <a:xfrm>
              <a:off x="1113239" y="952399"/>
              <a:ext cx="1066799" cy="956962"/>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48" name="组合 47"/>
          <p:cNvGrpSpPr/>
          <p:nvPr>
            <p:custDataLst>
              <p:tags r:id="rId4"/>
            </p:custDataLst>
          </p:nvPr>
        </p:nvGrpSpPr>
        <p:grpSpPr>
          <a:xfrm>
            <a:off x="1024033" y="1722046"/>
            <a:ext cx="894259" cy="521970"/>
            <a:chOff x="2215144" y="1952311"/>
            <a:chExt cx="1244730" cy="956965"/>
          </a:xfrm>
        </p:grpSpPr>
        <p:sp>
          <p:nvSpPr>
            <p:cNvPr id="49" name="平行四边形 48"/>
            <p:cNvSpPr/>
            <p:nvPr>
              <p:custDataLst>
                <p:tags r:id="rId5"/>
              </p:custDataLst>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0" name="文本框 10"/>
            <p:cNvSpPr txBox="1"/>
            <p:nvPr>
              <p:custDataLst>
                <p:tags r:id="rId6"/>
              </p:custDataLst>
            </p:nvPr>
          </p:nvSpPr>
          <p:spPr>
            <a:xfrm>
              <a:off x="2393075" y="1952311"/>
              <a:ext cx="1066799" cy="956965"/>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60" name="组合 59"/>
          <p:cNvGrpSpPr/>
          <p:nvPr>
            <p:custDataLst>
              <p:tags r:id="rId7"/>
            </p:custDataLst>
          </p:nvPr>
        </p:nvGrpSpPr>
        <p:grpSpPr>
          <a:xfrm>
            <a:off x="1644650" y="2641600"/>
            <a:ext cx="6755765" cy="465455"/>
            <a:chOff x="4315150" y="946712"/>
            <a:chExt cx="5610225" cy="546830"/>
          </a:xfrm>
        </p:grpSpPr>
        <p:sp>
          <p:nvSpPr>
            <p:cNvPr id="61" name="矩形 60"/>
            <p:cNvSpPr/>
            <p:nvPr>
              <p:custDataLst>
                <p:tags r:id="rId8"/>
              </p:custDataLst>
            </p:nvPr>
          </p:nvSpPr>
          <p:spPr>
            <a:xfrm>
              <a:off x="4840930" y="1036234"/>
              <a:ext cx="4707255" cy="405833"/>
            </a:xfrm>
            <a:prstGeom prst="rect">
              <a:avLst/>
            </a:prstGeom>
            <a:ln w="15875">
              <a:noFill/>
            </a:ln>
          </p:spPr>
          <p:txBody>
            <a:bodyPr wrap="square" lIns="68580" tIns="34290" rIns="68580" bIns="34290">
              <a:spAutoFit/>
            </a:bodyPr>
            <a:lstStyle/>
            <a:p>
              <a:pPr algn="l">
                <a:buClrTx/>
                <a:buSzTx/>
                <a:buFontTx/>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再贴现政策与业务操作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62" name="平行四边形 61"/>
            <p:cNvSpPr/>
            <p:nvPr>
              <p:custDataLst>
                <p:tags r:id="rId9"/>
              </p:custDataLst>
            </p:nvPr>
          </p:nvSpPr>
          <p:spPr>
            <a:xfrm>
              <a:off x="4315150" y="946712"/>
              <a:ext cx="5610225" cy="546830"/>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3" name="组合 62"/>
          <p:cNvGrpSpPr/>
          <p:nvPr>
            <p:custDataLst>
              <p:tags r:id="rId10"/>
            </p:custDataLst>
          </p:nvPr>
        </p:nvGrpSpPr>
        <p:grpSpPr>
          <a:xfrm>
            <a:off x="1771015" y="1767840"/>
            <a:ext cx="6803390" cy="454025"/>
            <a:chOff x="4315150" y="1654293"/>
            <a:chExt cx="5613400" cy="533402"/>
          </a:xfrm>
        </p:grpSpPr>
        <p:sp>
          <p:nvSpPr>
            <p:cNvPr id="64" name="矩形 63"/>
            <p:cNvSpPr/>
            <p:nvPr>
              <p:custDataLst>
                <p:tags r:id="rId11"/>
              </p:custDataLst>
            </p:nvPr>
          </p:nvSpPr>
          <p:spPr>
            <a:xfrm>
              <a:off x="4781726" y="1730387"/>
              <a:ext cx="4504690" cy="405833"/>
            </a:xfrm>
            <a:prstGeom prst="rect">
              <a:avLst/>
            </a:prstGeom>
            <a:ln w="15875">
              <a:noFill/>
            </a:ln>
          </p:spPr>
          <p:txBody>
            <a:bodyPr wrap="square" lIns="68580" tIns="34290" rIns="68580" bIns="34290">
              <a:spAutoFit/>
            </a:bodyPr>
            <a:lstStyle/>
            <a:p>
              <a:pPr algn="l">
                <a:buClrTx/>
                <a:buSzTx/>
                <a:buFontTx/>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法定存款准备金政策与业务操作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65" name="平行四边形 64"/>
            <p:cNvSpPr/>
            <p:nvPr>
              <p:custDataLst>
                <p:tags r:id="rId12"/>
              </p:custDataLst>
            </p:nvPr>
          </p:nvSpPr>
          <p:spPr>
            <a:xfrm>
              <a:off x="4315150" y="1654293"/>
              <a:ext cx="5613400" cy="533402"/>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34" name="组合 33"/>
          <p:cNvGrpSpPr/>
          <p:nvPr/>
        </p:nvGrpSpPr>
        <p:grpSpPr>
          <a:xfrm>
            <a:off x="7956376" y="490833"/>
            <a:ext cx="432048" cy="432834"/>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7" name="组合 36"/>
          <p:cNvGrpSpPr/>
          <p:nvPr/>
        </p:nvGrpSpPr>
        <p:grpSpPr>
          <a:xfrm>
            <a:off x="6660232" y="491226"/>
            <a:ext cx="432048" cy="432048"/>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40" name="组合 39"/>
          <p:cNvGrpSpPr/>
          <p:nvPr/>
        </p:nvGrpSpPr>
        <p:grpSpPr>
          <a:xfrm>
            <a:off x="7308304" y="490833"/>
            <a:ext cx="432833" cy="432834"/>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44" name="组合 43"/>
          <p:cNvGrpSpPr/>
          <p:nvPr/>
        </p:nvGrpSpPr>
        <p:grpSpPr>
          <a:xfrm>
            <a:off x="5364088" y="490833"/>
            <a:ext cx="432833" cy="432834"/>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77" name="组合 76"/>
          <p:cNvGrpSpPr/>
          <p:nvPr/>
        </p:nvGrpSpPr>
        <p:grpSpPr>
          <a:xfrm>
            <a:off x="6012160" y="490833"/>
            <a:ext cx="432833" cy="432834"/>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 name="组合 1"/>
          <p:cNvGrpSpPr/>
          <p:nvPr>
            <p:custDataLst>
              <p:tags r:id="rId13"/>
            </p:custDataLst>
          </p:nvPr>
        </p:nvGrpSpPr>
        <p:grpSpPr>
          <a:xfrm>
            <a:off x="846868" y="3532604"/>
            <a:ext cx="894259" cy="521970"/>
            <a:chOff x="2215144" y="3018134"/>
            <a:chExt cx="1244730" cy="956963"/>
          </a:xfrm>
        </p:grpSpPr>
        <p:sp>
          <p:nvSpPr>
            <p:cNvPr id="3" name="平行四边形 2"/>
            <p:cNvSpPr/>
            <p:nvPr>
              <p:custDataLst>
                <p:tags r:id="rId14"/>
              </p:custDataLst>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4" name="文本框 11"/>
            <p:cNvSpPr txBox="1"/>
            <p:nvPr>
              <p:custDataLst>
                <p:tags r:id="rId15"/>
              </p:custDataLst>
            </p:nvPr>
          </p:nvSpPr>
          <p:spPr>
            <a:xfrm>
              <a:off x="2393075" y="3018134"/>
              <a:ext cx="1066799" cy="956963"/>
            </a:xfrm>
            <a:prstGeom prst="rect">
              <a:avLst/>
            </a:prstGeom>
            <a:noFill/>
          </p:spPr>
          <p:txBody>
            <a:bodyPr wrap="square" rtlCol="0">
              <a:spAutoFit/>
            </a:bodyPr>
            <a:p>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5" name="组合 4"/>
          <p:cNvGrpSpPr/>
          <p:nvPr>
            <p:custDataLst>
              <p:tags r:id="rId16"/>
            </p:custDataLst>
          </p:nvPr>
        </p:nvGrpSpPr>
        <p:grpSpPr>
          <a:xfrm>
            <a:off x="1652270" y="3535680"/>
            <a:ext cx="6965950" cy="497840"/>
            <a:chOff x="4315150" y="2296970"/>
            <a:chExt cx="5687131" cy="584877"/>
          </a:xfrm>
        </p:grpSpPr>
        <p:sp>
          <p:nvSpPr>
            <p:cNvPr id="6" name="矩形 5"/>
            <p:cNvSpPr/>
            <p:nvPr>
              <p:custDataLst>
                <p:tags r:id="rId17"/>
              </p:custDataLst>
            </p:nvPr>
          </p:nvSpPr>
          <p:spPr>
            <a:xfrm>
              <a:off x="4863718" y="2411111"/>
              <a:ext cx="5138563" cy="405833"/>
            </a:xfrm>
            <a:prstGeom prst="rect">
              <a:avLst/>
            </a:prstGeom>
            <a:ln w="15875">
              <a:noFill/>
            </a:ln>
          </p:spPr>
          <p:txBody>
            <a:bodyPr wrap="square" lIns="68580" tIns="34290" rIns="68580" bIns="34290">
              <a:spAutoFit/>
            </a:bodyPr>
            <a:p>
              <a:pPr algn="l">
                <a:buClrTx/>
                <a:buSzTx/>
                <a:buFontTx/>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公开市场业务与操作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 name="平行四边形 6"/>
            <p:cNvSpPr/>
            <p:nvPr>
              <p:custDataLst>
                <p:tags r:id="rId18"/>
              </p:custDataLst>
            </p:nvPr>
          </p:nvSpPr>
          <p:spPr>
            <a:xfrm>
              <a:off x="4315150" y="2296970"/>
              <a:ext cx="5554345" cy="58487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wipe(left)">
                                      <p:cBhvr>
                                        <p:cTn id="10" dur="500"/>
                                        <p:tgtEl>
                                          <p:spTgt spid="43"/>
                                        </p:tgtEl>
                                      </p:cBhvr>
                                    </p:animEffect>
                                  </p:childTnLst>
                                </p:cTn>
                              </p:par>
                              <p:par>
                                <p:cTn id="11" presetID="53" presetClass="entr" presetSubtype="16"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p:cTn id="13" dur="500" fill="hold"/>
                                        <p:tgtEl>
                                          <p:spTgt spid="44"/>
                                        </p:tgtEl>
                                        <p:attrNameLst>
                                          <p:attrName>ppt_w</p:attrName>
                                        </p:attrNameLst>
                                      </p:cBhvr>
                                      <p:tavLst>
                                        <p:tav tm="0">
                                          <p:val>
                                            <p:fltVal val="0"/>
                                          </p:val>
                                        </p:tav>
                                        <p:tav tm="100000">
                                          <p:val>
                                            <p:strVal val="#ppt_w"/>
                                          </p:val>
                                        </p:tav>
                                      </p:tavLst>
                                    </p:anim>
                                    <p:anim calcmode="lin" valueType="num">
                                      <p:cBhvr>
                                        <p:cTn id="14" dur="500" fill="hold"/>
                                        <p:tgtEl>
                                          <p:spTgt spid="44"/>
                                        </p:tgtEl>
                                        <p:attrNameLst>
                                          <p:attrName>ppt_h</p:attrName>
                                        </p:attrNameLst>
                                      </p:cBhvr>
                                      <p:tavLst>
                                        <p:tav tm="0">
                                          <p:val>
                                            <p:fltVal val="0"/>
                                          </p:val>
                                        </p:tav>
                                        <p:tav tm="100000">
                                          <p:val>
                                            <p:strVal val="#ppt_h"/>
                                          </p:val>
                                        </p:tav>
                                      </p:tavLst>
                                    </p:anim>
                                    <p:animEffect transition="in" filter="fade">
                                      <p:cBhvr>
                                        <p:cTn id="15" dur="500"/>
                                        <p:tgtEl>
                                          <p:spTgt spid="44"/>
                                        </p:tgtEl>
                                      </p:cBhvr>
                                    </p:animEffect>
                                  </p:childTnLst>
                                </p:cTn>
                              </p:par>
                              <p:par>
                                <p:cTn id="16" presetID="53" presetClass="entr" presetSubtype="16" fill="hold" nodeType="withEffect">
                                  <p:stCondLst>
                                    <p:cond delay="200"/>
                                  </p:stCondLst>
                                  <p:childTnLst>
                                    <p:set>
                                      <p:cBhvr>
                                        <p:cTn id="17" dur="1" fill="hold">
                                          <p:stCondLst>
                                            <p:cond delay="0"/>
                                          </p:stCondLst>
                                        </p:cTn>
                                        <p:tgtEl>
                                          <p:spTgt spid="77"/>
                                        </p:tgtEl>
                                        <p:attrNameLst>
                                          <p:attrName>style.visibility</p:attrName>
                                        </p:attrNameLst>
                                      </p:cBhvr>
                                      <p:to>
                                        <p:strVal val="visible"/>
                                      </p:to>
                                    </p:set>
                                    <p:anim calcmode="lin" valueType="num">
                                      <p:cBhvr>
                                        <p:cTn id="18" dur="500" fill="hold"/>
                                        <p:tgtEl>
                                          <p:spTgt spid="77"/>
                                        </p:tgtEl>
                                        <p:attrNameLst>
                                          <p:attrName>ppt_w</p:attrName>
                                        </p:attrNameLst>
                                      </p:cBhvr>
                                      <p:tavLst>
                                        <p:tav tm="0">
                                          <p:val>
                                            <p:fltVal val="0"/>
                                          </p:val>
                                        </p:tav>
                                        <p:tav tm="100000">
                                          <p:val>
                                            <p:strVal val="#ppt_w"/>
                                          </p:val>
                                        </p:tav>
                                      </p:tavLst>
                                    </p:anim>
                                    <p:anim calcmode="lin" valueType="num">
                                      <p:cBhvr>
                                        <p:cTn id="19" dur="500" fill="hold"/>
                                        <p:tgtEl>
                                          <p:spTgt spid="77"/>
                                        </p:tgtEl>
                                        <p:attrNameLst>
                                          <p:attrName>ppt_h</p:attrName>
                                        </p:attrNameLst>
                                      </p:cBhvr>
                                      <p:tavLst>
                                        <p:tav tm="0">
                                          <p:val>
                                            <p:fltVal val="0"/>
                                          </p:val>
                                        </p:tav>
                                        <p:tav tm="100000">
                                          <p:val>
                                            <p:strVal val="#ppt_h"/>
                                          </p:val>
                                        </p:tav>
                                      </p:tavLst>
                                    </p:anim>
                                    <p:animEffect transition="in" filter="fade">
                                      <p:cBhvr>
                                        <p:cTn id="20" dur="500"/>
                                        <p:tgtEl>
                                          <p:spTgt spid="77"/>
                                        </p:tgtEl>
                                      </p:cBhvr>
                                    </p:animEffect>
                                  </p:childTnLst>
                                </p:cTn>
                              </p:par>
                              <p:par>
                                <p:cTn id="21" presetID="53" presetClass="entr" presetSubtype="16" fill="hold" nodeType="withEffect">
                                  <p:stCondLst>
                                    <p:cond delay="40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fltVal val="0"/>
                                          </p:val>
                                        </p:tav>
                                        <p:tav tm="100000">
                                          <p:val>
                                            <p:strVal val="#ppt_h"/>
                                          </p:val>
                                        </p:tav>
                                      </p:tavLst>
                                    </p:anim>
                                    <p:animEffect transition="in" filter="fade">
                                      <p:cBhvr>
                                        <p:cTn id="25" dur="500"/>
                                        <p:tgtEl>
                                          <p:spTgt spid="37"/>
                                        </p:tgtEl>
                                      </p:cBhvr>
                                    </p:animEffect>
                                  </p:childTnLst>
                                </p:cTn>
                              </p:par>
                              <p:par>
                                <p:cTn id="26" presetID="53" presetClass="entr" presetSubtype="16" fill="hold" nodeType="withEffect">
                                  <p:stCondLst>
                                    <p:cond delay="600"/>
                                  </p:stCondLst>
                                  <p:childTnLst>
                                    <p:set>
                                      <p:cBhvr>
                                        <p:cTn id="27" dur="1" fill="hold">
                                          <p:stCondLst>
                                            <p:cond delay="0"/>
                                          </p:stCondLst>
                                        </p:cTn>
                                        <p:tgtEl>
                                          <p:spTgt spid="40"/>
                                        </p:tgtEl>
                                        <p:attrNameLst>
                                          <p:attrName>style.visibility</p:attrName>
                                        </p:attrNameLst>
                                      </p:cBhvr>
                                      <p:to>
                                        <p:strVal val="visible"/>
                                      </p:to>
                                    </p:set>
                                    <p:anim calcmode="lin" valueType="num">
                                      <p:cBhvr>
                                        <p:cTn id="28" dur="500" fill="hold"/>
                                        <p:tgtEl>
                                          <p:spTgt spid="40"/>
                                        </p:tgtEl>
                                        <p:attrNameLst>
                                          <p:attrName>ppt_w</p:attrName>
                                        </p:attrNameLst>
                                      </p:cBhvr>
                                      <p:tavLst>
                                        <p:tav tm="0">
                                          <p:val>
                                            <p:fltVal val="0"/>
                                          </p:val>
                                        </p:tav>
                                        <p:tav tm="100000">
                                          <p:val>
                                            <p:strVal val="#ppt_w"/>
                                          </p:val>
                                        </p:tav>
                                      </p:tavLst>
                                    </p:anim>
                                    <p:anim calcmode="lin" valueType="num">
                                      <p:cBhvr>
                                        <p:cTn id="29" dur="500" fill="hold"/>
                                        <p:tgtEl>
                                          <p:spTgt spid="40"/>
                                        </p:tgtEl>
                                        <p:attrNameLst>
                                          <p:attrName>ppt_h</p:attrName>
                                        </p:attrNameLst>
                                      </p:cBhvr>
                                      <p:tavLst>
                                        <p:tav tm="0">
                                          <p:val>
                                            <p:fltVal val="0"/>
                                          </p:val>
                                        </p:tav>
                                        <p:tav tm="100000">
                                          <p:val>
                                            <p:strVal val="#ppt_h"/>
                                          </p:val>
                                        </p:tav>
                                      </p:tavLst>
                                    </p:anim>
                                    <p:animEffect transition="in" filter="fade">
                                      <p:cBhvr>
                                        <p:cTn id="30" dur="500"/>
                                        <p:tgtEl>
                                          <p:spTgt spid="40"/>
                                        </p:tgtEl>
                                      </p:cBhvr>
                                    </p:animEffect>
                                  </p:childTnLst>
                                </p:cTn>
                              </p:par>
                              <p:par>
                                <p:cTn id="31" presetID="53" presetClass="entr" presetSubtype="16" fill="hold" nodeType="withEffect">
                                  <p:stCondLst>
                                    <p:cond delay="800"/>
                                  </p:stCondLst>
                                  <p:childTnLst>
                                    <p:set>
                                      <p:cBhvr>
                                        <p:cTn id="32" dur="1" fill="hold">
                                          <p:stCondLst>
                                            <p:cond delay="0"/>
                                          </p:stCondLst>
                                        </p:cTn>
                                        <p:tgtEl>
                                          <p:spTgt spid="34"/>
                                        </p:tgtEl>
                                        <p:attrNameLst>
                                          <p:attrName>style.visibility</p:attrName>
                                        </p:attrNameLst>
                                      </p:cBhvr>
                                      <p:to>
                                        <p:strVal val="visible"/>
                                      </p:to>
                                    </p:set>
                                    <p:anim calcmode="lin" valueType="num">
                                      <p:cBhvr>
                                        <p:cTn id="33" dur="500" fill="hold"/>
                                        <p:tgtEl>
                                          <p:spTgt spid="34"/>
                                        </p:tgtEl>
                                        <p:attrNameLst>
                                          <p:attrName>ppt_w</p:attrName>
                                        </p:attrNameLst>
                                      </p:cBhvr>
                                      <p:tavLst>
                                        <p:tav tm="0">
                                          <p:val>
                                            <p:fltVal val="0"/>
                                          </p:val>
                                        </p:tav>
                                        <p:tav tm="100000">
                                          <p:val>
                                            <p:strVal val="#ppt_w"/>
                                          </p:val>
                                        </p:tav>
                                      </p:tavLst>
                                    </p:anim>
                                    <p:anim calcmode="lin" valueType="num">
                                      <p:cBhvr>
                                        <p:cTn id="34" dur="500" fill="hold"/>
                                        <p:tgtEl>
                                          <p:spTgt spid="34"/>
                                        </p:tgtEl>
                                        <p:attrNameLst>
                                          <p:attrName>ppt_h</p:attrName>
                                        </p:attrNameLst>
                                      </p:cBhvr>
                                      <p:tavLst>
                                        <p:tav tm="0">
                                          <p:val>
                                            <p:fltVal val="0"/>
                                          </p:val>
                                        </p:tav>
                                        <p:tav tm="100000">
                                          <p:val>
                                            <p:strVal val="#ppt_h"/>
                                          </p:val>
                                        </p:tav>
                                      </p:tavLst>
                                    </p:anim>
                                    <p:animEffect transition="in" filter="fade">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500" fill="hold"/>
                                        <p:tgtEl>
                                          <p:spTgt spid="45"/>
                                        </p:tgtEl>
                                        <p:attrNameLst>
                                          <p:attrName>ppt_x</p:attrName>
                                        </p:attrNameLst>
                                      </p:cBhvr>
                                      <p:tavLst>
                                        <p:tav tm="0">
                                          <p:val>
                                            <p:strVal val="0-#ppt_w/2"/>
                                          </p:val>
                                        </p:tav>
                                        <p:tav tm="100000">
                                          <p:val>
                                            <p:strVal val="#ppt_x"/>
                                          </p:val>
                                        </p:tav>
                                      </p:tavLst>
                                    </p:anim>
                                    <p:anim calcmode="lin" valueType="num">
                                      <p:cBhvr additive="base">
                                        <p:cTn id="41" dur="500" fill="hold"/>
                                        <p:tgtEl>
                                          <p:spTgt spid="45"/>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60"/>
                                        </p:tgtEl>
                                        <p:attrNameLst>
                                          <p:attrName>style.visibility</p:attrName>
                                        </p:attrNameLst>
                                      </p:cBhvr>
                                      <p:to>
                                        <p:strVal val="visible"/>
                                      </p:to>
                                    </p:set>
                                    <p:anim calcmode="lin" valueType="num">
                                      <p:cBhvr additive="base">
                                        <p:cTn id="44" dur="500" fill="hold"/>
                                        <p:tgtEl>
                                          <p:spTgt spid="60"/>
                                        </p:tgtEl>
                                        <p:attrNameLst>
                                          <p:attrName>ppt_x</p:attrName>
                                        </p:attrNameLst>
                                      </p:cBhvr>
                                      <p:tavLst>
                                        <p:tav tm="0">
                                          <p:val>
                                            <p:strVal val="1+#ppt_w/2"/>
                                          </p:val>
                                        </p:tav>
                                        <p:tav tm="100000">
                                          <p:val>
                                            <p:strVal val="#ppt_x"/>
                                          </p:val>
                                        </p:tav>
                                      </p:tavLst>
                                    </p:anim>
                                    <p:anim calcmode="lin" valueType="num">
                                      <p:cBhvr additive="base">
                                        <p:cTn id="45"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additive="base">
                                        <p:cTn id="60" dur="500" fill="hold"/>
                                        <p:tgtEl>
                                          <p:spTgt spid="2"/>
                                        </p:tgtEl>
                                        <p:attrNameLst>
                                          <p:attrName>ppt_x</p:attrName>
                                        </p:attrNameLst>
                                      </p:cBhvr>
                                      <p:tavLst>
                                        <p:tav tm="0">
                                          <p:val>
                                            <p:strVal val="0-#ppt_w/2"/>
                                          </p:val>
                                        </p:tav>
                                        <p:tav tm="100000">
                                          <p:val>
                                            <p:strVal val="#ppt_x"/>
                                          </p:val>
                                        </p:tav>
                                      </p:tavLst>
                                    </p:anim>
                                    <p:anim calcmode="lin" valueType="num">
                                      <p:cBhvr additive="base">
                                        <p:cTn id="61" dur="500" fill="hold"/>
                                        <p:tgtEl>
                                          <p:spTgt spid="2"/>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additive="base">
                                        <p:cTn id="64" dur="500" fill="hold"/>
                                        <p:tgtEl>
                                          <p:spTgt spid="5"/>
                                        </p:tgtEl>
                                        <p:attrNameLst>
                                          <p:attrName>ppt_x</p:attrName>
                                        </p:attrNameLst>
                                      </p:cBhvr>
                                      <p:tavLst>
                                        <p:tav tm="0">
                                          <p:val>
                                            <p:strVal val="1+#ppt_w/2"/>
                                          </p:val>
                                        </p:tav>
                                        <p:tav tm="100000">
                                          <p:val>
                                            <p:strVal val="#ppt_x"/>
                                          </p:val>
                                        </p:tav>
                                      </p:tavLst>
                                    </p:anim>
                                    <p:anim calcmode="lin" valueType="num">
                                      <p:cBhvr additive="base">
                                        <p:cTn id="65"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691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sp>
        <p:nvSpPr>
          <p:cNvPr id="49" name="TextBox 48"/>
          <p:cNvSpPr txBox="1"/>
          <p:nvPr/>
        </p:nvSpPr>
        <p:spPr>
          <a:xfrm>
            <a:off x="2557145" y="2185035"/>
            <a:ext cx="6755765" cy="622300"/>
          </a:xfrm>
          <a:prstGeom prst="rect">
            <a:avLst/>
          </a:prstGeom>
          <a:noFill/>
        </p:spPr>
        <p:txBody>
          <a:bodyPr wrap="square" lIns="68584" tIns="34291" rIns="68584" bIns="34291" rtlCol="0">
            <a:spAutoFit/>
          </a:bodyPr>
          <a:lstStyle/>
          <a:p>
            <a:pPr algn="l">
              <a:buClrTx/>
              <a:buSzTx/>
              <a:buFontTx/>
            </a:pPr>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法定存款准备金政策与业务操作</a:t>
            </a:r>
            <a:endPar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 name="文本框 6"/>
          <p:cNvSpPr txBox="1"/>
          <p:nvPr/>
        </p:nvSpPr>
        <p:spPr>
          <a:xfrm>
            <a:off x="1043940" y="1903730"/>
            <a:ext cx="1732915" cy="1299210"/>
          </a:xfrm>
          <a:prstGeom prst="rect">
            <a:avLst/>
          </a:prstGeom>
          <a:noFill/>
        </p:spPr>
        <p:txBody>
          <a:bodyPr wrap="square" lIns="68580" tIns="34290" rIns="68580" bIns="34290" rtlCol="0">
            <a:spAutoFit/>
          </a:bodyPr>
          <a:p>
            <a:r>
              <a:rPr lang="en-US" altLang="zh-CN" sz="8000" dirty="0">
                <a:solidFill>
                  <a:schemeClr val="bg1">
                    <a:lumMod val="95000"/>
                  </a:schemeClr>
                </a:solidFill>
                <a:latin typeface="Impact" panose="020B0806030902050204" pitchFamily="34" charset="0"/>
              </a:rPr>
              <a:t>0</a:t>
            </a:r>
            <a:r>
              <a:rPr lang="en-US" sz="8000" dirty="0">
                <a:solidFill>
                  <a:schemeClr val="bg1">
                    <a:lumMod val="95000"/>
                  </a:schemeClr>
                </a:solidFill>
                <a:latin typeface="Impact" panose="020B0806030902050204" pitchFamily="34" charset="0"/>
              </a:rPr>
              <a:t>1</a:t>
            </a:r>
            <a:endParaRPr lang="en-US" sz="8000" dirty="0">
              <a:solidFill>
                <a:schemeClr val="bg1">
                  <a:lumMod val="95000"/>
                </a:schemeClr>
              </a:solidFill>
              <a:latin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755650" y="2816225"/>
            <a:ext cx="3493770" cy="2155190"/>
          </a:xfrm>
          <a:prstGeom prst="ellipse">
            <a:avLst/>
          </a:prstGeom>
        </p:spPr>
      </p:pic>
      <p:grpSp>
        <p:nvGrpSpPr>
          <p:cNvPr id="32" name="组合 31"/>
          <p:cNvGrpSpPr/>
          <p:nvPr/>
        </p:nvGrpSpPr>
        <p:grpSpPr>
          <a:xfrm rot="0">
            <a:off x="0" y="32385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01</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2" name="文本框 3"/>
          <p:cNvSpPr txBox="1"/>
          <p:nvPr/>
        </p:nvSpPr>
        <p:spPr>
          <a:xfrm>
            <a:off x="690880" y="33925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法定存款准备金政策的含义</a:t>
            </a:r>
            <a:endParaRPr lang="zh-CN" altLang="en-US" sz="2400" b="1" dirty="0">
              <a:latin typeface="微软雅黑" panose="020B0503020204020204" pitchFamily="34" charset="-122"/>
              <a:ea typeface="微软雅黑" panose="020B0503020204020204" pitchFamily="34" charset="-122"/>
              <a:sym typeface="+mn-ea"/>
            </a:endParaRPr>
          </a:p>
        </p:txBody>
      </p:sp>
      <p:sp>
        <p:nvSpPr>
          <p:cNvPr id="25" name="文本框 24"/>
          <p:cNvSpPr txBox="1"/>
          <p:nvPr/>
        </p:nvSpPr>
        <p:spPr>
          <a:xfrm>
            <a:off x="1017270" y="1346835"/>
            <a:ext cx="7051675" cy="1288415"/>
          </a:xfrm>
          <a:prstGeom prst="rect">
            <a:avLst/>
          </a:prstGeom>
          <a:ln w="12700" cmpd="sng">
            <a:solidFill>
              <a:schemeClr val="tx1"/>
            </a:solidFill>
            <a:prstDash val="sysDash"/>
          </a:ln>
        </p:spPr>
        <p:style>
          <a:lnRef idx="2">
            <a:schemeClr val="accent5"/>
          </a:lnRef>
          <a:fillRef idx="1">
            <a:schemeClr val="lt1"/>
          </a:fillRef>
          <a:effectRef idx="0">
            <a:schemeClr val="accent5"/>
          </a:effectRef>
          <a:fontRef idx="minor">
            <a:schemeClr val="dk1"/>
          </a:fontRef>
        </p:style>
        <p:txBody>
          <a:bodyPr wrap="square" rtlCol="0">
            <a:noAutofit/>
          </a:bodyPr>
          <a:p>
            <a:pPr indent="0">
              <a:lnSpc>
                <a:spcPct val="140000"/>
              </a:lnSpc>
              <a:buFont typeface="Arial" panose="020B0604020202020204" pitchFamily="34" charset="0"/>
              <a:buNone/>
            </a:pPr>
            <a:r>
              <a:rPr lang="en-US" altLang="zh-CN" sz="2000" dirty="0">
                <a:solidFill>
                  <a:schemeClr val="tx1">
                    <a:lumMod val="95000"/>
                    <a:lumOff val="5000"/>
                  </a:schemeClr>
                </a:solidFill>
                <a:latin typeface="宋体" panose="02010600030101010101" pitchFamily="2" charset="-122"/>
                <a:ea typeface="宋体" panose="02010600030101010101" pitchFamily="2" charset="-122"/>
              </a:rPr>
              <a:t>    </a:t>
            </a:r>
            <a:r>
              <a:rPr lang="zh-CN" altLang="en-US" sz="1800" b="1">
                <a:solidFill>
                  <a:schemeClr val="tx1"/>
                </a:solidFill>
                <a:ea typeface="华文仿宋"/>
              </a:rPr>
              <a:t>指中央银行对商业银行等存款货币机构的存款规定存款准备金率，强制性地要求商业银行等存款货币机构按规定比率上缴存款准备金。</a:t>
            </a:r>
            <a:endParaRPr lang="zh-CN" altLang="en-US" sz="1800" b="1">
              <a:solidFill>
                <a:schemeClr val="tx1"/>
              </a:solidFill>
              <a:ea typeface="华文仿宋"/>
            </a:endParaRPr>
          </a:p>
          <a:p>
            <a:pPr indent="0">
              <a:lnSpc>
                <a:spcPct val="140000"/>
              </a:lnSpc>
              <a:buFont typeface="Arial" panose="020B0604020202020204" pitchFamily="34" charset="0"/>
              <a:buNone/>
            </a:pPr>
            <a:endParaRPr lang="zh-CN" altLang="en-US" sz="1800" b="1">
              <a:solidFill>
                <a:schemeClr val="tx1"/>
              </a:solidFill>
              <a:ea typeface="华文仿宋"/>
            </a:endParaRPr>
          </a:p>
        </p:txBody>
      </p:sp>
      <p:pic>
        <p:nvPicPr>
          <p:cNvPr id="5" name="图片 4"/>
          <p:cNvPicPr>
            <a:picLocks noChangeAspect="1"/>
          </p:cNvPicPr>
          <p:nvPr/>
        </p:nvPicPr>
        <p:blipFill>
          <a:blip r:embed="rId2"/>
          <a:stretch>
            <a:fillRect/>
          </a:stretch>
        </p:blipFill>
        <p:spPr>
          <a:xfrm>
            <a:off x="4714240" y="2809240"/>
            <a:ext cx="3815080" cy="2118995"/>
          </a:xfrm>
          <a:prstGeom prst="ellipse">
            <a:avLst/>
          </a:prstGeom>
        </p:spPr>
      </p:pic>
      <p:sp>
        <p:nvSpPr>
          <p:cNvPr id="6" name="矩形 5"/>
          <p:cNvSpPr/>
          <p:nvPr/>
        </p:nvSpPr>
        <p:spPr>
          <a:xfrm>
            <a:off x="-901065" y="2708275"/>
            <a:ext cx="10800715" cy="2736850"/>
          </a:xfrm>
          <a:prstGeom prst="rect">
            <a:avLst/>
          </a:prstGeom>
          <a:solidFill>
            <a:schemeClr val="bg1">
              <a:alpha val="62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custDataLst>
              <p:tags r:id="rId1"/>
            </p:custDataLst>
          </p:nvPr>
        </p:nvSpPr>
        <p:spPr>
          <a:xfrm>
            <a:off x="2988310" y="3652520"/>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7" name="标题 1"/>
          <p:cNvSpPr txBox="1"/>
          <p:nvPr>
            <p:custDataLst>
              <p:tags r:id="rId2"/>
            </p:custDataLst>
          </p:nvPr>
        </p:nvSpPr>
        <p:spPr>
          <a:xfrm>
            <a:off x="2916555" y="1059180"/>
            <a:ext cx="5556885" cy="723900"/>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grpSp>
        <p:nvGrpSpPr>
          <p:cNvPr id="32" name="组合 31"/>
          <p:cNvGrpSpPr/>
          <p:nvPr/>
        </p:nvGrpSpPr>
        <p:grpSpPr>
          <a:xfrm rot="0">
            <a:off x="0" y="18034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b="1" dirty="0"/>
                <a:t>02</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p>
          </p:txBody>
        </p:sp>
      </p:grpSp>
      <p:sp>
        <p:nvSpPr>
          <p:cNvPr id="2" name="文本框 3"/>
          <p:cNvSpPr txBox="1"/>
          <p:nvPr/>
        </p:nvSpPr>
        <p:spPr>
          <a:xfrm>
            <a:off x="762635" y="19574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法定存款准备金政策的作用</a:t>
            </a:r>
            <a:endParaRPr lang="zh-CN" altLang="en-US" sz="2400" b="1" dirty="0">
              <a:latin typeface="微软雅黑" panose="020B0503020204020204" pitchFamily="34" charset="-122"/>
              <a:ea typeface="微软雅黑" panose="020B0503020204020204" pitchFamily="34" charset="-122"/>
              <a:sym typeface="+mn-ea"/>
            </a:endParaRPr>
          </a:p>
        </p:txBody>
      </p:sp>
      <p:pic>
        <p:nvPicPr>
          <p:cNvPr id="12" name="图片 11"/>
          <p:cNvPicPr>
            <a:picLocks noChangeAspect="1"/>
          </p:cNvPicPr>
          <p:nvPr/>
        </p:nvPicPr>
        <p:blipFill>
          <a:blip r:embed="rId3">
            <a:alphaModFix amt="100000"/>
          </a:blip>
          <a:srcRect l="21978" r="21978"/>
          <a:stretch>
            <a:fillRect/>
          </a:stretch>
        </p:blipFill>
        <p:spPr>
          <a:xfrm>
            <a:off x="521410" y="1731008"/>
            <a:ext cx="2274114" cy="2274114"/>
          </a:xfrm>
          <a:custGeom>
            <a:avLst/>
            <a:gdLst/>
            <a:ahLst/>
            <a:cxnLst/>
            <a:rect l="l" t="t" r="r" b="b"/>
            <a:pathLst>
              <a:path w="3035300" h="3035300">
                <a:moveTo>
                  <a:pt x="1516076" y="0"/>
                </a:moveTo>
                <a:cubicBezTo>
                  <a:pt x="2353382" y="0"/>
                  <a:pt x="3032152" y="678770"/>
                  <a:pt x="3032152" y="1516076"/>
                </a:cubicBezTo>
                <a:cubicBezTo>
                  <a:pt x="3032152" y="2353382"/>
                  <a:pt x="2353382" y="3032152"/>
                  <a:pt x="1516076" y="3032152"/>
                </a:cubicBezTo>
                <a:cubicBezTo>
                  <a:pt x="678770" y="3032152"/>
                  <a:pt x="0" y="2353382"/>
                  <a:pt x="0" y="1516076"/>
                </a:cubicBezTo>
                <a:cubicBezTo>
                  <a:pt x="0" y="678770"/>
                  <a:pt x="678770" y="0"/>
                  <a:pt x="1516076" y="0"/>
                </a:cubicBezTo>
                <a:close/>
              </a:path>
            </a:pathLst>
          </a:custGeom>
          <a:noFill/>
          <a:ln>
            <a:noFill/>
          </a:ln>
        </p:spPr>
      </p:pic>
      <p:sp>
        <p:nvSpPr>
          <p:cNvPr id="3" name="标题 1"/>
          <p:cNvSpPr txBox="1"/>
          <p:nvPr/>
        </p:nvSpPr>
        <p:spPr>
          <a:xfrm>
            <a:off x="806789" y="2016386"/>
            <a:ext cx="1703357" cy="1703357"/>
          </a:xfrm>
          <a:prstGeom prst="flowChartConnector">
            <a:avLst/>
          </a:prstGeom>
          <a:solidFill>
            <a:srgbClr val="005DA2">
              <a:alpha val="80000"/>
            </a:srgbClr>
          </a:solidFill>
          <a:ln w="12700" cap="sq">
            <a:noFill/>
            <a:miter/>
          </a:ln>
        </p:spPr>
        <p:txBody>
          <a:bodyPr vert="horz" wrap="square" lIns="68580" tIns="34290" rIns="68580" bIns="34290" rtlCol="0" anchor="ctr"/>
          <a:p>
            <a:pPr algn="ctr">
              <a:lnSpc>
                <a:spcPct val="110000"/>
              </a:lnSpc>
            </a:pPr>
            <a:endParaRPr kumimoji="1" lang="zh-CN" altLang="en-US" sz="1350"/>
          </a:p>
        </p:txBody>
      </p:sp>
      <p:sp>
        <p:nvSpPr>
          <p:cNvPr id="14" name="标题 1"/>
          <p:cNvSpPr txBox="1"/>
          <p:nvPr/>
        </p:nvSpPr>
        <p:spPr>
          <a:xfrm>
            <a:off x="1360656" y="2598065"/>
            <a:ext cx="595622" cy="540001"/>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68580" tIns="34290" rIns="68580" bIns="34290" rtlCol="0" anchor="ctr"/>
          <a:p>
            <a:pPr algn="l">
              <a:lnSpc>
                <a:spcPct val="110000"/>
              </a:lnSpc>
            </a:pPr>
            <a:endParaRPr kumimoji="1" lang="zh-CN" altLang="en-US" sz="1350"/>
          </a:p>
        </p:txBody>
      </p:sp>
      <p:sp>
        <p:nvSpPr>
          <p:cNvPr id="9" name="标题 1"/>
          <p:cNvSpPr txBox="1"/>
          <p:nvPr>
            <p:custDataLst>
              <p:tags r:id="rId4"/>
            </p:custDataLst>
          </p:nvPr>
        </p:nvSpPr>
        <p:spPr>
          <a:xfrm>
            <a:off x="3014345" y="1200150"/>
            <a:ext cx="5519420" cy="379095"/>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1.保证商业银行等存款货币机构资金的流动性。</a:t>
            </a:r>
            <a:endParaRPr lang="zh-CN" altLang="en-US" b="1">
              <a:ea typeface="华文仿宋"/>
            </a:endParaRPr>
          </a:p>
        </p:txBody>
      </p:sp>
      <p:sp>
        <p:nvSpPr>
          <p:cNvPr id="11" name="标题 1"/>
          <p:cNvSpPr txBox="1"/>
          <p:nvPr>
            <p:custDataLst>
              <p:tags r:id="rId5"/>
            </p:custDataLst>
          </p:nvPr>
        </p:nvSpPr>
        <p:spPr>
          <a:xfrm>
            <a:off x="3403600" y="2413000"/>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4" name="标题 1"/>
          <p:cNvSpPr txBox="1"/>
          <p:nvPr>
            <p:custDataLst>
              <p:tags r:id="rId6"/>
            </p:custDataLst>
          </p:nvPr>
        </p:nvSpPr>
        <p:spPr>
          <a:xfrm>
            <a:off x="3639788" y="2518695"/>
            <a:ext cx="4761450" cy="379314"/>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2.集中一部分信贷资金。</a:t>
            </a:r>
            <a:endParaRPr lang="zh-CN" altLang="en-US" b="1">
              <a:ea typeface="华文仿宋"/>
            </a:endParaRPr>
          </a:p>
        </p:txBody>
      </p:sp>
      <p:sp>
        <p:nvSpPr>
          <p:cNvPr id="20" name="标题 1"/>
          <p:cNvSpPr txBox="1"/>
          <p:nvPr>
            <p:custDataLst>
              <p:tags r:id="rId7"/>
            </p:custDataLst>
          </p:nvPr>
        </p:nvSpPr>
        <p:spPr>
          <a:xfrm>
            <a:off x="3187065" y="3716020"/>
            <a:ext cx="5346065" cy="537210"/>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3.调节货币供给总量。</a:t>
            </a:r>
            <a:endParaRPr lang="zh-CN" altLang="en-US" b="1">
              <a:ea typeface="华文仿宋"/>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0" y="108747"/>
            <a:ext cx="5147945" cy="845185"/>
            <a:chOff x="0" y="144997"/>
            <a:chExt cx="6863927" cy="1126911"/>
          </a:xfrm>
        </p:grpSpPr>
        <p:sp>
          <p:nvSpPr>
            <p:cNvPr id="30" name="文本框 3"/>
            <p:cNvSpPr txBox="1"/>
            <p:nvPr/>
          </p:nvSpPr>
          <p:spPr>
            <a:xfrm>
              <a:off x="921173" y="165317"/>
              <a:ext cx="5942754" cy="1106591"/>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sym typeface="+mn-ea"/>
                </a:rPr>
                <a:t>法定存款准备金政策的优缺点</a:t>
              </a:r>
              <a:endParaRPr lang="zh-CN" altLang="en-US" sz="2400" b="1" dirty="0">
                <a:latin typeface="微软雅黑" panose="020B0503020204020204" pitchFamily="34" charset="-122"/>
                <a:ea typeface="微软雅黑" panose="020B0503020204020204" pitchFamily="34" charset="-122"/>
                <a:sym typeface="+mn-ea"/>
              </a:endParaRPr>
            </a:p>
            <a:p>
              <a:endParaRPr lang="zh-CN" altLang="en-US" sz="2400" b="1" dirty="0">
                <a:latin typeface="微软雅黑" panose="020B0503020204020204" pitchFamily="34" charset="-122"/>
                <a:ea typeface="微软雅黑" panose="020B0503020204020204" pitchFamily="34" charset="-122"/>
                <a:sym typeface="+mn-ea"/>
              </a:endParaRPr>
            </a:p>
          </p:txBody>
        </p:sp>
        <p:grpSp>
          <p:nvGrpSpPr>
            <p:cNvPr id="32" name="组合 31"/>
            <p:cNvGrpSpPr/>
            <p:nvPr/>
          </p:nvGrpSpPr>
          <p:grpSpPr>
            <a:xfrm>
              <a:off x="0" y="144997"/>
              <a:ext cx="874606" cy="785706"/>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03</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grpSp>
      <p:grpSp>
        <p:nvGrpSpPr>
          <p:cNvPr id="38" name="组合 37"/>
          <p:cNvGrpSpPr/>
          <p:nvPr/>
        </p:nvGrpSpPr>
        <p:grpSpPr>
          <a:xfrm>
            <a:off x="5142016" y="932815"/>
            <a:ext cx="2758045" cy="4885690"/>
            <a:chOff x="1633" y="2019"/>
            <a:chExt cx="2791" cy="7694"/>
          </a:xfrm>
        </p:grpSpPr>
        <p:sp>
          <p:nvSpPr>
            <p:cNvPr id="2" name="圆角矩形 1"/>
            <p:cNvSpPr/>
            <p:nvPr/>
          </p:nvSpPr>
          <p:spPr>
            <a:xfrm>
              <a:off x="1639" y="2735"/>
              <a:ext cx="2722" cy="4357"/>
            </a:xfrm>
            <a:prstGeom prst="roundRect">
              <a:avLst>
                <a:gd name="adj" fmla="val 3230"/>
              </a:avLst>
            </a:prstGeom>
            <a:noFill/>
            <a:ln w="19050">
              <a:solidFill>
                <a:schemeClr val="accent1"/>
              </a:solidFill>
            </a:ln>
          </p:spPr>
          <p:txBody>
            <a:bodyPr rtlCol="0" anchor="ctr"/>
            <a:p>
              <a:pPr algn="ctr"/>
              <a:endParaRPr lang="zh-CN" altLang="en-US" sz="1600">
                <a:solidFill>
                  <a:schemeClr val="tx2"/>
                </a:solidFill>
                <a:latin typeface="微软雅黑" panose="020B0503020204020204" pitchFamily="34" charset="-122"/>
                <a:ea typeface="微软雅黑" panose="020B0503020204020204" pitchFamily="34" charset="-122"/>
              </a:endParaRPr>
            </a:p>
          </p:txBody>
        </p:sp>
        <p:cxnSp>
          <p:nvCxnSpPr>
            <p:cNvPr id="3" name="直接箭头连接符 2"/>
            <p:cNvCxnSpPr/>
            <p:nvPr/>
          </p:nvCxnSpPr>
          <p:spPr>
            <a:xfrm>
              <a:off x="1922" y="3896"/>
              <a:ext cx="2158" cy="0"/>
            </a:xfrm>
            <a:prstGeom prst="straightConnector1">
              <a:avLst/>
            </a:prstGeom>
            <a:noFill/>
            <a:ln w="19050">
              <a:solidFill>
                <a:schemeClr val="accent1"/>
              </a:solidFill>
              <a:headEnd type="oval" w="med" len="med"/>
              <a:tailEnd type="oval" w="med" len="med"/>
            </a:ln>
          </p:spPr>
        </p:cxnSp>
        <p:cxnSp>
          <p:nvCxnSpPr>
            <p:cNvPr id="10" name="直接箭头连接符 9"/>
            <p:cNvCxnSpPr/>
            <p:nvPr/>
          </p:nvCxnSpPr>
          <p:spPr>
            <a:xfrm>
              <a:off x="1922" y="4481"/>
              <a:ext cx="2158" cy="0"/>
            </a:xfrm>
            <a:prstGeom prst="straightConnector1">
              <a:avLst/>
            </a:prstGeom>
            <a:noFill/>
            <a:ln w="19050">
              <a:solidFill>
                <a:schemeClr val="accent1"/>
              </a:solidFill>
              <a:headEnd type="oval" w="med" len="med"/>
              <a:tailEnd type="oval" w="med" len="med"/>
            </a:ln>
          </p:spPr>
        </p:cxnSp>
        <p:sp>
          <p:nvSpPr>
            <p:cNvPr id="11" name="矩形 10"/>
            <p:cNvSpPr/>
            <p:nvPr/>
          </p:nvSpPr>
          <p:spPr>
            <a:xfrm>
              <a:off x="1633" y="4558"/>
              <a:ext cx="2791" cy="5155"/>
            </a:xfrm>
            <a:prstGeom prst="rect">
              <a:avLst/>
            </a:prstGeom>
          </p:spPr>
          <p:txBody>
            <a:bodyPr wrap="square">
              <a:spAutoFit/>
            </a:bodyPr>
            <a:p>
              <a:pPr algn="l" defTabSz="912495">
                <a:lnSpc>
                  <a:spcPct val="110000"/>
                </a:lnSpc>
                <a:spcBef>
                  <a:spcPct val="20000"/>
                </a:spcBef>
                <a:buClrTx/>
                <a:buSzTx/>
                <a:buFontTx/>
                <a:buNone/>
                <a:defRPr/>
              </a:pPr>
              <a:r>
                <a:rPr lang="en-US" altLang="zh-CN" sz="1800" dirty="0">
                  <a:latin typeface="微软雅黑" panose="020B0503020204020204" pitchFamily="34" charset="-122"/>
                  <a:ea typeface="微软雅黑" panose="020B0503020204020204" pitchFamily="34" charset="-122"/>
                  <a:sym typeface="+mn-ea"/>
                </a:rPr>
                <a:t>     </a:t>
              </a:r>
              <a:r>
                <a:rPr lang="zh-CN" altLang="en-US" sz="1800" b="1">
                  <a:ea typeface="华文仿宋"/>
                </a:rPr>
                <a:t>其一，对经济的振动太大；其二，法定准备金率的提高，可能使超额准备率较低的银行立即陷入流动性困境。</a:t>
              </a:r>
              <a:endParaRPr lang="zh-CN" altLang="en-US" sz="1800" b="1">
                <a:ea typeface="华文仿宋"/>
              </a:endParaRPr>
            </a:p>
            <a:p>
              <a:pPr algn="l" defTabSz="912495">
                <a:lnSpc>
                  <a:spcPct val="130000"/>
                </a:lnSpc>
                <a:spcBef>
                  <a:spcPct val="20000"/>
                </a:spcBef>
                <a:buClrTx/>
                <a:buSzTx/>
                <a:buFontTx/>
                <a:buNone/>
                <a:defRPr/>
              </a:pPr>
              <a:endParaRPr lang="zh-CN" altLang="en-US" sz="1800">
                <a:latin typeface="Calibri" panose="020F0502020204030204" pitchFamily="34" charset="0"/>
              </a:endParaRPr>
            </a:p>
            <a:p>
              <a:pPr algn="l" defTabSz="912495">
                <a:lnSpc>
                  <a:spcPct val="130000"/>
                </a:lnSpc>
                <a:spcBef>
                  <a:spcPct val="20000"/>
                </a:spcBef>
                <a:buClrTx/>
                <a:buSzTx/>
                <a:buFontTx/>
                <a:buNone/>
                <a:defRPr/>
              </a:pPr>
              <a:endParaRPr lang="zh-CN" altLang="en-US" sz="1800" dirty="0">
                <a:latin typeface="宋体" panose="02010600030101010101" pitchFamily="2" charset="-122"/>
                <a:ea typeface="宋体" panose="02010600030101010101" pitchFamily="2" charset="-122"/>
              </a:endParaRPr>
            </a:p>
            <a:p>
              <a:pPr algn="l" defTabSz="912495">
                <a:lnSpc>
                  <a:spcPct val="130000"/>
                </a:lnSpc>
                <a:spcBef>
                  <a:spcPct val="20000"/>
                </a:spcBef>
                <a:buClrTx/>
                <a:buSzTx/>
                <a:buFontTx/>
                <a:buNone/>
                <a:defRPr/>
              </a:pPr>
              <a:endParaRPr lang="zh-CN" altLang="en-US" sz="1800">
                <a:latin typeface="Calibri" panose="020F0502020204030204" pitchFamily="34" charset="0"/>
              </a:endParaRPr>
            </a:p>
            <a:p>
              <a:pPr algn="l" defTabSz="912495">
                <a:lnSpc>
                  <a:spcPct val="130000"/>
                </a:lnSpc>
                <a:spcBef>
                  <a:spcPct val="20000"/>
                </a:spcBef>
                <a:buClrTx/>
                <a:buSzTx/>
                <a:buFontTx/>
                <a:buNone/>
                <a:defRPr/>
              </a:pPr>
              <a:endParaRPr lang="zh-CN" altLang="en-US" sz="18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矩形 11"/>
            <p:cNvSpPr/>
            <p:nvPr/>
          </p:nvSpPr>
          <p:spPr>
            <a:xfrm>
              <a:off x="2022" y="3880"/>
              <a:ext cx="1992" cy="628"/>
            </a:xfrm>
            <a:prstGeom prst="rect">
              <a:avLst/>
            </a:prstGeom>
          </p:spPr>
          <p:txBody>
            <a:bodyPr wrap="square">
              <a:spAutoFit/>
            </a:bodyPr>
            <a:p>
              <a:pPr algn="ctr"/>
              <a:r>
                <a:rPr lang="zh-CN" altLang="en-US" sz="2000" dirty="0">
                  <a:solidFill>
                    <a:schemeClr val="accent1"/>
                  </a:solidFill>
                  <a:latin typeface="微软雅黑" panose="020B0503020204020204" pitchFamily="34" charset="-122"/>
                  <a:ea typeface="微软雅黑" panose="020B0503020204020204" pitchFamily="34" charset="-122"/>
                </a:rPr>
                <a:t>法定存款准备金</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8" name="椭圆 17"/>
            <p:cNvSpPr/>
            <p:nvPr/>
          </p:nvSpPr>
          <p:spPr>
            <a:xfrm>
              <a:off x="2458" y="2019"/>
              <a:ext cx="1054" cy="1453"/>
            </a:xfrm>
            <a:prstGeom prst="ellipse">
              <a:avLst/>
            </a:prstGeom>
            <a:solidFill>
              <a:schemeClr val="accent1"/>
            </a:solidFill>
            <a:ln>
              <a:noFill/>
            </a:ln>
          </p:spPr>
          <p:txBody>
            <a:bodyPr vert="horz" wrap="square" lIns="91440" tIns="45720" rIns="91440" bIns="45720" numCol="1" anchor="t" anchorCtr="0" compatLnSpc="1"/>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2575" y="2384"/>
              <a:ext cx="850" cy="725"/>
            </a:xfrm>
            <a:prstGeom prst="rect">
              <a:avLst/>
            </a:prstGeom>
          </p:spPr>
          <p:txBody>
            <a:bodyPr wrap="square" anchor="ctr">
              <a:spAutoFit/>
            </a:bodyPr>
            <a:p>
              <a:pPr algn="ctr"/>
              <a:r>
                <a:rPr lang="zh-CN" altLang="en-US" sz="2400" dirty="0">
                  <a:solidFill>
                    <a:schemeClr val="bg1"/>
                  </a:solidFill>
                  <a:latin typeface="微软雅黑" panose="020B0503020204020204" pitchFamily="34" charset="-122"/>
                  <a:ea typeface="微软雅黑" panose="020B0503020204020204" pitchFamily="34" charset="-122"/>
                </a:rPr>
                <a:t>缺点</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1163915" y="980440"/>
            <a:ext cx="2820855" cy="3213078"/>
            <a:chOff x="5347" y="2010"/>
            <a:chExt cx="2801" cy="5151"/>
          </a:xfrm>
        </p:grpSpPr>
        <p:sp>
          <p:nvSpPr>
            <p:cNvPr id="13" name="圆角矩形 12"/>
            <p:cNvSpPr/>
            <p:nvPr/>
          </p:nvSpPr>
          <p:spPr>
            <a:xfrm>
              <a:off x="5371" y="2735"/>
              <a:ext cx="2722" cy="4425"/>
            </a:xfrm>
            <a:prstGeom prst="roundRect">
              <a:avLst>
                <a:gd name="adj" fmla="val 3230"/>
              </a:avLst>
            </a:prstGeom>
            <a:noFill/>
            <a:ln w="19050">
              <a:solidFill>
                <a:schemeClr val="accent2"/>
              </a:solidFill>
            </a:ln>
          </p:spPr>
          <p:txBody>
            <a:bodyPr rtlCol="0" anchor="ctr"/>
            <a:p>
              <a:pPr algn="ctr"/>
              <a:endParaRPr lang="zh-CN" altLang="en-US" sz="1600">
                <a:solidFill>
                  <a:schemeClr val="tx2"/>
                </a:solidFill>
                <a:latin typeface="微软雅黑" panose="020B0503020204020204" pitchFamily="34" charset="-122"/>
                <a:ea typeface="微软雅黑" panose="020B0503020204020204" pitchFamily="34" charset="-122"/>
              </a:endParaRPr>
            </a:p>
          </p:txBody>
        </p:sp>
        <p:sp>
          <p:nvSpPr>
            <p:cNvPr id="19" name="椭圆 18"/>
            <p:cNvSpPr/>
            <p:nvPr/>
          </p:nvSpPr>
          <p:spPr>
            <a:xfrm>
              <a:off x="6207" y="2010"/>
              <a:ext cx="962" cy="1489"/>
            </a:xfrm>
            <a:prstGeom prst="ellipse">
              <a:avLst/>
            </a:prstGeom>
            <a:solidFill>
              <a:schemeClr val="accent2"/>
            </a:solidFill>
            <a:ln>
              <a:noFill/>
            </a:ln>
          </p:spPr>
          <p:txBody>
            <a:bodyPr vert="horz" wrap="square" lIns="91440" tIns="45720" rIns="91440" bIns="45720" numCol="1" anchor="t" anchorCtr="0" compatLnSpc="1"/>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6311" y="2377"/>
              <a:ext cx="850" cy="738"/>
            </a:xfrm>
            <a:prstGeom prst="rect">
              <a:avLst/>
            </a:prstGeom>
          </p:spPr>
          <p:txBody>
            <a:bodyPr wrap="square" anchor="ctr">
              <a:spAutoFit/>
            </a:bodyPr>
            <a:p>
              <a:pPr algn="ctr"/>
              <a:r>
                <a:rPr lang="zh-CN" altLang="en-US" sz="2400" dirty="0">
                  <a:solidFill>
                    <a:schemeClr val="bg1"/>
                  </a:solidFill>
                  <a:latin typeface="微软雅黑" panose="020B0503020204020204" pitchFamily="34" charset="-122"/>
                  <a:ea typeface="微软雅黑" panose="020B0503020204020204" pitchFamily="34" charset="-122"/>
                </a:rPr>
                <a:t>优点</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a:off x="5662" y="3913"/>
              <a:ext cx="2158" cy="0"/>
            </a:xfrm>
            <a:prstGeom prst="straightConnector1">
              <a:avLst/>
            </a:prstGeom>
            <a:noFill/>
            <a:ln w="19050">
              <a:solidFill>
                <a:schemeClr val="accent2"/>
              </a:solidFill>
              <a:headEnd type="oval" w="med" len="med"/>
              <a:tailEnd type="oval" w="med" len="med"/>
            </a:ln>
          </p:spPr>
        </p:cxnSp>
        <p:cxnSp>
          <p:nvCxnSpPr>
            <p:cNvPr id="31" name="直接箭头连接符 30"/>
            <p:cNvCxnSpPr/>
            <p:nvPr/>
          </p:nvCxnSpPr>
          <p:spPr>
            <a:xfrm>
              <a:off x="5662" y="4498"/>
              <a:ext cx="2158" cy="0"/>
            </a:xfrm>
            <a:prstGeom prst="straightConnector1">
              <a:avLst/>
            </a:prstGeom>
            <a:noFill/>
            <a:ln w="19050">
              <a:solidFill>
                <a:schemeClr val="accent2"/>
              </a:solidFill>
              <a:headEnd type="oval" w="med" len="med"/>
              <a:tailEnd type="oval" w="med" len="med"/>
            </a:ln>
          </p:spPr>
        </p:cxnSp>
        <p:sp>
          <p:nvSpPr>
            <p:cNvPr id="5" name="矩形 4"/>
            <p:cNvSpPr/>
            <p:nvPr/>
          </p:nvSpPr>
          <p:spPr>
            <a:xfrm>
              <a:off x="5347" y="4573"/>
              <a:ext cx="2801" cy="2588"/>
            </a:xfrm>
            <a:prstGeom prst="rect">
              <a:avLst/>
            </a:prstGeom>
          </p:spPr>
          <p:txBody>
            <a:bodyPr wrap="square">
              <a:spAutoFit/>
            </a:bodyPr>
            <a:p>
              <a:pPr defTabSz="912495">
                <a:lnSpc>
                  <a:spcPct val="110000"/>
                </a:lnSpc>
                <a:spcBef>
                  <a:spcPct val="20000"/>
                </a:spcBef>
                <a:defRPr/>
              </a:pPr>
              <a:r>
                <a:rPr lang="en-US" altLang="zh-CN" sz="1800" dirty="0">
                  <a:latin typeface="微软雅黑" panose="020B0503020204020204" pitchFamily="34" charset="-122"/>
                  <a:ea typeface="微软雅黑" panose="020B0503020204020204" pitchFamily="34" charset="-122"/>
                  <a:sym typeface="+mn-ea"/>
                </a:rPr>
                <a:t>     </a:t>
              </a:r>
              <a:r>
                <a:rPr lang="zh-CN" altLang="en-US" sz="1800" b="1">
                  <a:ea typeface="华文仿宋"/>
                  <a:sym typeface="Arial" panose="020B0604020202020204" pitchFamily="34" charset="0"/>
                </a:rPr>
                <a:t>对所有存款货币银行的影响是平等的，对货币供给量具有极强的影响力，力度大，速度快，效果明显。</a:t>
              </a:r>
              <a:endParaRPr lang="zh-CN" altLang="en-US" sz="1800" b="1">
                <a:ea typeface="华文仿宋"/>
                <a:sym typeface="Arial" panose="020B0604020202020204" pitchFamily="34" charset="0"/>
              </a:endParaRPr>
            </a:p>
          </p:txBody>
        </p:sp>
        <p:sp>
          <p:nvSpPr>
            <p:cNvPr id="14" name="矩形 13"/>
            <p:cNvSpPr/>
            <p:nvPr/>
          </p:nvSpPr>
          <p:spPr>
            <a:xfrm>
              <a:off x="5728" y="3897"/>
              <a:ext cx="2160" cy="639"/>
            </a:xfrm>
            <a:prstGeom prst="rect">
              <a:avLst/>
            </a:prstGeom>
          </p:spPr>
          <p:txBody>
            <a:bodyPr wrap="square">
              <a:spAutoFit/>
            </a:bodyPr>
            <a:p>
              <a:pPr algn="ctr"/>
              <a:r>
                <a:rPr lang="zh-CN" altLang="en-US" sz="2000" dirty="0">
                  <a:solidFill>
                    <a:schemeClr val="accent2"/>
                  </a:solidFill>
                  <a:latin typeface="微软雅黑" panose="020B0503020204020204" pitchFamily="34" charset="-122"/>
                  <a:ea typeface="微软雅黑" panose="020B0503020204020204" pitchFamily="34" charset="-122"/>
                </a:rPr>
                <a:t>法定存款准备金</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blinds(horizontal)">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691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sp>
        <p:nvSpPr>
          <p:cNvPr id="49" name="TextBox 48"/>
          <p:cNvSpPr txBox="1"/>
          <p:nvPr/>
        </p:nvSpPr>
        <p:spPr>
          <a:xfrm>
            <a:off x="3583940" y="2256790"/>
            <a:ext cx="6607175" cy="622300"/>
          </a:xfrm>
          <a:prstGeom prst="rect">
            <a:avLst/>
          </a:prstGeom>
          <a:noFill/>
        </p:spPr>
        <p:txBody>
          <a:bodyPr wrap="square" lIns="68584" tIns="34291" rIns="68584" bIns="34291" rtlCol="0">
            <a:spAutoFit/>
          </a:bodyPr>
          <a:lstStyle/>
          <a:p>
            <a:pPr algn="l"/>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再贴现政策与业务操作</a:t>
            </a:r>
            <a:endPar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 name="文本框 6"/>
          <p:cNvSpPr txBox="1"/>
          <p:nvPr/>
        </p:nvSpPr>
        <p:spPr>
          <a:xfrm>
            <a:off x="1043940" y="1903730"/>
            <a:ext cx="1709420" cy="1299210"/>
          </a:xfrm>
          <a:prstGeom prst="rect">
            <a:avLst/>
          </a:prstGeom>
          <a:noFill/>
        </p:spPr>
        <p:txBody>
          <a:bodyPr wrap="square" lIns="68580" tIns="34290" rIns="68580" bIns="34290" rtlCol="0">
            <a:spAutoFit/>
          </a:bodyPr>
          <a:p>
            <a:r>
              <a:rPr lang="en-US" altLang="zh-CN" sz="8000" dirty="0">
                <a:solidFill>
                  <a:schemeClr val="bg1">
                    <a:lumMod val="95000"/>
                  </a:schemeClr>
                </a:solidFill>
                <a:latin typeface="Impact" panose="020B0806030902050204" pitchFamily="34" charset="0"/>
              </a:rPr>
              <a:t>0</a:t>
            </a:r>
            <a:r>
              <a:rPr lang="en-US" sz="8000" dirty="0">
                <a:solidFill>
                  <a:schemeClr val="bg1">
                    <a:lumMod val="95000"/>
                  </a:schemeClr>
                </a:solidFill>
                <a:latin typeface="Impact" panose="020B0806030902050204" pitchFamily="34" charset="0"/>
              </a:rPr>
              <a:t>2</a:t>
            </a:r>
            <a:endParaRPr lang="en-US" sz="8000" dirty="0">
              <a:solidFill>
                <a:schemeClr val="bg1">
                  <a:lumMod val="95000"/>
                </a:schemeClr>
              </a:solidFill>
              <a:latin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39115" y="2834640"/>
            <a:ext cx="3859530" cy="2159000"/>
          </a:xfrm>
          <a:prstGeom prst="ellipse">
            <a:avLst/>
          </a:prstGeom>
        </p:spPr>
      </p:pic>
      <p:grpSp>
        <p:nvGrpSpPr>
          <p:cNvPr id="32" name="组合 31"/>
          <p:cNvGrpSpPr/>
          <p:nvPr/>
        </p:nvGrpSpPr>
        <p:grpSpPr>
          <a:xfrm rot="0">
            <a:off x="0" y="32385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01</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2" name="文本框 3"/>
          <p:cNvSpPr txBox="1"/>
          <p:nvPr/>
        </p:nvSpPr>
        <p:spPr>
          <a:xfrm>
            <a:off x="690880" y="33925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再贴现政策的含义</a:t>
            </a:r>
            <a:endParaRPr lang="zh-CN" altLang="en-US" sz="2400" b="1" dirty="0">
              <a:latin typeface="微软雅黑" panose="020B0503020204020204" pitchFamily="34" charset="-122"/>
              <a:ea typeface="微软雅黑" panose="020B0503020204020204" pitchFamily="34" charset="-122"/>
              <a:sym typeface="+mn-ea"/>
            </a:endParaRPr>
          </a:p>
        </p:txBody>
      </p:sp>
      <p:sp>
        <p:nvSpPr>
          <p:cNvPr id="25" name="文本框 24"/>
          <p:cNvSpPr txBox="1"/>
          <p:nvPr/>
        </p:nvSpPr>
        <p:spPr>
          <a:xfrm>
            <a:off x="1017270" y="1346835"/>
            <a:ext cx="7051675" cy="1288415"/>
          </a:xfrm>
          <a:prstGeom prst="rect">
            <a:avLst/>
          </a:prstGeom>
          <a:ln w="12700" cmpd="sng">
            <a:solidFill>
              <a:schemeClr val="tx1"/>
            </a:solidFill>
            <a:prstDash val="sysDash"/>
          </a:ln>
        </p:spPr>
        <p:style>
          <a:lnRef idx="2">
            <a:schemeClr val="accent5"/>
          </a:lnRef>
          <a:fillRef idx="1">
            <a:schemeClr val="lt1"/>
          </a:fillRef>
          <a:effectRef idx="0">
            <a:schemeClr val="accent5"/>
          </a:effectRef>
          <a:fontRef idx="minor">
            <a:schemeClr val="dk1"/>
          </a:fontRef>
        </p:style>
        <p:txBody>
          <a:bodyPr wrap="square" rtlCol="0">
            <a:noAutofit/>
          </a:bodyPr>
          <a:p>
            <a:pPr indent="0">
              <a:lnSpc>
                <a:spcPct val="140000"/>
              </a:lnSpc>
              <a:buFont typeface="Arial" panose="020B0604020202020204" pitchFamily="34" charset="0"/>
              <a:buNone/>
            </a:pPr>
            <a:r>
              <a:rPr lang="en-US" altLang="zh-CN" sz="2000" dirty="0">
                <a:solidFill>
                  <a:schemeClr val="tx1">
                    <a:lumMod val="95000"/>
                    <a:lumOff val="5000"/>
                  </a:schemeClr>
                </a:solidFill>
                <a:latin typeface="宋体" panose="02010600030101010101" pitchFamily="2" charset="-122"/>
                <a:ea typeface="宋体" panose="02010600030101010101" pitchFamily="2" charset="-122"/>
              </a:rPr>
              <a:t>    </a:t>
            </a:r>
            <a:r>
              <a:rPr lang="zh-CN" altLang="en-US" sz="1800" b="1">
                <a:solidFill>
                  <a:schemeClr val="tx1"/>
                </a:solidFill>
                <a:ea typeface="华文仿宋"/>
              </a:rPr>
              <a:t>指中央银行通过提高或降低再贴现率的办法，影响商业银行等存款货币机构从中央银行获得的再贴现贷款和超额准备，达到增加或减少货币供给量，实现货币政策目标的一种政策措施。</a:t>
            </a:r>
            <a:endParaRPr lang="zh-CN" altLang="en-US" sz="1800" b="1">
              <a:solidFill>
                <a:schemeClr val="tx1"/>
              </a:solidFill>
              <a:ea typeface="华文仿宋"/>
            </a:endParaRPr>
          </a:p>
          <a:p>
            <a:pPr indent="0">
              <a:lnSpc>
                <a:spcPct val="140000"/>
              </a:lnSpc>
              <a:buFont typeface="Arial" panose="020B0604020202020204" pitchFamily="34" charset="0"/>
              <a:buNone/>
            </a:pPr>
            <a:endParaRPr lang="zh-CN" altLang="en-US" sz="1800" b="1">
              <a:solidFill>
                <a:schemeClr val="tx1"/>
              </a:solidFill>
              <a:ea typeface="华文仿宋"/>
            </a:endParaRPr>
          </a:p>
        </p:txBody>
      </p:sp>
      <p:pic>
        <p:nvPicPr>
          <p:cNvPr id="5" name="图片 4"/>
          <p:cNvPicPr>
            <a:picLocks noChangeAspect="1"/>
          </p:cNvPicPr>
          <p:nvPr/>
        </p:nvPicPr>
        <p:blipFill>
          <a:blip r:embed="rId2"/>
          <a:stretch>
            <a:fillRect/>
          </a:stretch>
        </p:blipFill>
        <p:spPr>
          <a:xfrm>
            <a:off x="4714240" y="2809240"/>
            <a:ext cx="3815080" cy="2118995"/>
          </a:xfrm>
          <a:prstGeom prst="ellipse">
            <a:avLst/>
          </a:prstGeom>
        </p:spPr>
      </p:pic>
      <p:sp>
        <p:nvSpPr>
          <p:cNvPr id="6" name="矩形 5"/>
          <p:cNvSpPr/>
          <p:nvPr/>
        </p:nvSpPr>
        <p:spPr>
          <a:xfrm>
            <a:off x="-828675" y="2787015"/>
            <a:ext cx="10800715" cy="2736850"/>
          </a:xfrm>
          <a:prstGeom prst="rect">
            <a:avLst/>
          </a:prstGeom>
          <a:solidFill>
            <a:schemeClr val="bg1">
              <a:alpha val="62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custDataLst>
              <p:tags r:id="rId1"/>
            </p:custDataLst>
          </p:nvPr>
        </p:nvSpPr>
        <p:spPr>
          <a:xfrm>
            <a:off x="2988310" y="3006725"/>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7" name="标题 1"/>
          <p:cNvSpPr txBox="1"/>
          <p:nvPr>
            <p:custDataLst>
              <p:tags r:id="rId2"/>
            </p:custDataLst>
          </p:nvPr>
        </p:nvSpPr>
        <p:spPr>
          <a:xfrm>
            <a:off x="2916555" y="1059180"/>
            <a:ext cx="5556885" cy="723900"/>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grpSp>
        <p:nvGrpSpPr>
          <p:cNvPr id="32" name="组合 31"/>
          <p:cNvGrpSpPr/>
          <p:nvPr/>
        </p:nvGrpSpPr>
        <p:grpSpPr>
          <a:xfrm rot="0">
            <a:off x="0" y="18034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b="1" dirty="0"/>
                <a:t>02</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p>
          </p:txBody>
        </p:sp>
      </p:grpSp>
      <p:sp>
        <p:nvSpPr>
          <p:cNvPr id="2" name="文本框 3"/>
          <p:cNvSpPr txBox="1"/>
          <p:nvPr/>
        </p:nvSpPr>
        <p:spPr>
          <a:xfrm>
            <a:off x="762635" y="19574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再贴现政策</a:t>
            </a:r>
            <a:r>
              <a:rPr lang="zh-CN" altLang="en-US" sz="2400" b="1" dirty="0">
                <a:latin typeface="微软雅黑" panose="020B0503020204020204" pitchFamily="34" charset="-122"/>
                <a:ea typeface="微软雅黑" panose="020B0503020204020204" pitchFamily="34" charset="-122"/>
                <a:sym typeface="+mn-ea"/>
              </a:rPr>
              <a:t>的作用</a:t>
            </a:r>
            <a:endParaRPr lang="zh-CN" altLang="en-US" sz="2400" b="1" dirty="0">
              <a:latin typeface="微软雅黑" panose="020B0503020204020204" pitchFamily="34" charset="-122"/>
              <a:ea typeface="微软雅黑" panose="020B0503020204020204" pitchFamily="34" charset="-122"/>
              <a:sym typeface="+mn-ea"/>
            </a:endParaRPr>
          </a:p>
        </p:txBody>
      </p:sp>
      <p:pic>
        <p:nvPicPr>
          <p:cNvPr id="12" name="图片 11"/>
          <p:cNvPicPr>
            <a:picLocks noChangeAspect="1"/>
          </p:cNvPicPr>
          <p:nvPr/>
        </p:nvPicPr>
        <p:blipFill>
          <a:blip r:embed="rId3">
            <a:alphaModFix amt="100000"/>
          </a:blip>
          <a:srcRect l="21978" r="21978"/>
          <a:stretch>
            <a:fillRect/>
          </a:stretch>
        </p:blipFill>
        <p:spPr>
          <a:xfrm>
            <a:off x="521410" y="1731008"/>
            <a:ext cx="2274114" cy="2274114"/>
          </a:xfrm>
          <a:custGeom>
            <a:avLst/>
            <a:gdLst/>
            <a:ahLst/>
            <a:cxnLst/>
            <a:rect l="l" t="t" r="r" b="b"/>
            <a:pathLst>
              <a:path w="3035300" h="3035300">
                <a:moveTo>
                  <a:pt x="1516076" y="0"/>
                </a:moveTo>
                <a:cubicBezTo>
                  <a:pt x="2353382" y="0"/>
                  <a:pt x="3032152" y="678770"/>
                  <a:pt x="3032152" y="1516076"/>
                </a:cubicBezTo>
                <a:cubicBezTo>
                  <a:pt x="3032152" y="2353382"/>
                  <a:pt x="2353382" y="3032152"/>
                  <a:pt x="1516076" y="3032152"/>
                </a:cubicBezTo>
                <a:cubicBezTo>
                  <a:pt x="678770" y="3032152"/>
                  <a:pt x="0" y="2353382"/>
                  <a:pt x="0" y="1516076"/>
                </a:cubicBezTo>
                <a:cubicBezTo>
                  <a:pt x="0" y="678770"/>
                  <a:pt x="678770" y="0"/>
                  <a:pt x="1516076" y="0"/>
                </a:cubicBezTo>
                <a:close/>
              </a:path>
            </a:pathLst>
          </a:custGeom>
          <a:noFill/>
          <a:ln>
            <a:noFill/>
          </a:ln>
        </p:spPr>
      </p:pic>
      <p:sp>
        <p:nvSpPr>
          <p:cNvPr id="3" name="标题 1"/>
          <p:cNvSpPr txBox="1"/>
          <p:nvPr/>
        </p:nvSpPr>
        <p:spPr>
          <a:xfrm>
            <a:off x="806789" y="2016386"/>
            <a:ext cx="1703357" cy="1703357"/>
          </a:xfrm>
          <a:prstGeom prst="flowChartConnector">
            <a:avLst/>
          </a:prstGeom>
          <a:solidFill>
            <a:srgbClr val="005DA2">
              <a:alpha val="80000"/>
            </a:srgbClr>
          </a:solidFill>
          <a:ln w="12700" cap="sq">
            <a:noFill/>
            <a:miter/>
          </a:ln>
        </p:spPr>
        <p:txBody>
          <a:bodyPr vert="horz" wrap="square" lIns="68580" tIns="34290" rIns="68580" bIns="34290" rtlCol="0" anchor="ctr"/>
          <a:p>
            <a:pPr algn="ctr">
              <a:lnSpc>
                <a:spcPct val="110000"/>
              </a:lnSpc>
            </a:pPr>
            <a:endParaRPr kumimoji="1" lang="zh-CN" altLang="en-US" sz="1350"/>
          </a:p>
        </p:txBody>
      </p:sp>
      <p:sp>
        <p:nvSpPr>
          <p:cNvPr id="14" name="标题 1"/>
          <p:cNvSpPr txBox="1"/>
          <p:nvPr/>
        </p:nvSpPr>
        <p:spPr>
          <a:xfrm>
            <a:off x="1360656" y="2598065"/>
            <a:ext cx="595622" cy="540001"/>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68580" tIns="34290" rIns="68580" bIns="34290" rtlCol="0" anchor="ctr"/>
          <a:p>
            <a:pPr algn="l">
              <a:lnSpc>
                <a:spcPct val="110000"/>
              </a:lnSpc>
            </a:pPr>
            <a:endParaRPr kumimoji="1" lang="zh-CN" altLang="en-US" sz="1350"/>
          </a:p>
        </p:txBody>
      </p:sp>
      <p:sp>
        <p:nvSpPr>
          <p:cNvPr id="9" name="标题 1"/>
          <p:cNvSpPr txBox="1"/>
          <p:nvPr>
            <p:custDataLst>
              <p:tags r:id="rId4"/>
            </p:custDataLst>
          </p:nvPr>
        </p:nvSpPr>
        <p:spPr>
          <a:xfrm>
            <a:off x="3014345" y="1200150"/>
            <a:ext cx="5519420" cy="379095"/>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1.再贴现率的升降会影响商业银行等存款货币机构贷款量和货币供给量。</a:t>
            </a:r>
            <a:endParaRPr lang="zh-CN" altLang="en-US" b="1">
              <a:ea typeface="华文仿宋"/>
            </a:endParaRPr>
          </a:p>
        </p:txBody>
      </p:sp>
      <p:sp>
        <p:nvSpPr>
          <p:cNvPr id="11" name="标题 1"/>
          <p:cNvSpPr txBox="1"/>
          <p:nvPr>
            <p:custDataLst>
              <p:tags r:id="rId5"/>
            </p:custDataLst>
          </p:nvPr>
        </p:nvSpPr>
        <p:spPr>
          <a:xfrm>
            <a:off x="3403600" y="2054225"/>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4" name="标题 1"/>
          <p:cNvSpPr txBox="1"/>
          <p:nvPr>
            <p:custDataLst>
              <p:tags r:id="rId6"/>
            </p:custDataLst>
          </p:nvPr>
        </p:nvSpPr>
        <p:spPr>
          <a:xfrm>
            <a:off x="3639788" y="2159920"/>
            <a:ext cx="4761450" cy="379314"/>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2.再贴现政策对调整信贷结构有一定效果。</a:t>
            </a:r>
            <a:endParaRPr lang="zh-CN" altLang="en-US" b="1">
              <a:ea typeface="华文仿宋"/>
            </a:endParaRPr>
          </a:p>
        </p:txBody>
      </p:sp>
      <p:sp>
        <p:nvSpPr>
          <p:cNvPr id="20" name="标题 1"/>
          <p:cNvSpPr txBox="1"/>
          <p:nvPr>
            <p:custDataLst>
              <p:tags r:id="rId7"/>
            </p:custDataLst>
          </p:nvPr>
        </p:nvSpPr>
        <p:spPr>
          <a:xfrm>
            <a:off x="3187065" y="3070225"/>
            <a:ext cx="5346065" cy="537210"/>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3.再贴现率的升降可影响公众预期。</a:t>
            </a:r>
            <a:endParaRPr lang="zh-CN" altLang="en-US" b="1">
              <a:ea typeface="华文仿宋"/>
            </a:endParaRPr>
          </a:p>
        </p:txBody>
      </p:sp>
      <p:sp>
        <p:nvSpPr>
          <p:cNvPr id="6" name="标题 1"/>
          <p:cNvSpPr txBox="1"/>
          <p:nvPr>
            <p:custDataLst>
              <p:tags r:id="rId8"/>
            </p:custDataLst>
          </p:nvPr>
        </p:nvSpPr>
        <p:spPr>
          <a:xfrm>
            <a:off x="2182495" y="3994785"/>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8" name="标题 1"/>
          <p:cNvSpPr txBox="1"/>
          <p:nvPr>
            <p:custDataLst>
              <p:tags r:id="rId9"/>
            </p:custDataLst>
          </p:nvPr>
        </p:nvSpPr>
        <p:spPr>
          <a:xfrm>
            <a:off x="2381250" y="4058285"/>
            <a:ext cx="5346065" cy="537210"/>
          </a:xfrm>
          <a:prstGeom prst="rect">
            <a:avLst/>
          </a:prstGeom>
          <a:noFill/>
          <a:ln>
            <a:noFill/>
          </a:ln>
        </p:spPr>
        <p:txBody>
          <a:bodyPr vert="horz" wrap="square" lIns="68580" tIns="34290" rIns="68580" bIns="34290" rtlCol="0" anchor="ctr"/>
          <a:p>
            <a:pPr algn="l">
              <a:lnSpc>
                <a:spcPct val="130000"/>
              </a:lnSpc>
            </a:pPr>
            <a:r>
              <a:rPr lang="en-US" altLang="zh-CN" b="1">
                <a:ea typeface="华文仿宋"/>
              </a:rPr>
              <a:t>4</a:t>
            </a:r>
            <a:r>
              <a:rPr lang="zh-CN" altLang="en-US" b="1">
                <a:ea typeface="华文仿宋"/>
              </a:rPr>
              <a:t>.防止金融恐慌。</a:t>
            </a:r>
            <a:endParaRPr lang="zh-CN" altLang="en-US" b="1">
              <a:ea typeface="华文仿宋"/>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0" y="108747"/>
            <a:ext cx="5147945" cy="845185"/>
            <a:chOff x="0" y="144997"/>
            <a:chExt cx="6863927" cy="1126911"/>
          </a:xfrm>
        </p:grpSpPr>
        <p:sp>
          <p:nvSpPr>
            <p:cNvPr id="30" name="文本框 3"/>
            <p:cNvSpPr txBox="1"/>
            <p:nvPr/>
          </p:nvSpPr>
          <p:spPr>
            <a:xfrm>
              <a:off x="921173" y="165317"/>
              <a:ext cx="5942754" cy="1106591"/>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sym typeface="+mn-ea"/>
                </a:rPr>
                <a:t>再贴现政策</a:t>
              </a:r>
              <a:r>
                <a:rPr lang="zh-CN" altLang="en-US" sz="2400" b="1" dirty="0">
                  <a:latin typeface="微软雅黑" panose="020B0503020204020204" pitchFamily="34" charset="-122"/>
                  <a:ea typeface="微软雅黑" panose="020B0503020204020204" pitchFamily="34" charset="-122"/>
                  <a:sym typeface="+mn-ea"/>
                </a:rPr>
                <a:t>的优缺点</a:t>
              </a:r>
              <a:endParaRPr lang="zh-CN" altLang="en-US" sz="2400" b="1" dirty="0">
                <a:latin typeface="微软雅黑" panose="020B0503020204020204" pitchFamily="34" charset="-122"/>
                <a:ea typeface="微软雅黑" panose="020B0503020204020204" pitchFamily="34" charset="-122"/>
                <a:sym typeface="+mn-ea"/>
              </a:endParaRPr>
            </a:p>
            <a:p>
              <a:endParaRPr lang="zh-CN" altLang="en-US" sz="2400" b="1" dirty="0">
                <a:latin typeface="微软雅黑" panose="020B0503020204020204" pitchFamily="34" charset="-122"/>
                <a:ea typeface="微软雅黑" panose="020B0503020204020204" pitchFamily="34" charset="-122"/>
                <a:sym typeface="+mn-ea"/>
              </a:endParaRPr>
            </a:p>
          </p:txBody>
        </p:sp>
        <p:grpSp>
          <p:nvGrpSpPr>
            <p:cNvPr id="32" name="组合 31"/>
            <p:cNvGrpSpPr/>
            <p:nvPr/>
          </p:nvGrpSpPr>
          <p:grpSpPr>
            <a:xfrm>
              <a:off x="0" y="144997"/>
              <a:ext cx="874606" cy="785706"/>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03</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grpSp>
      <p:grpSp>
        <p:nvGrpSpPr>
          <p:cNvPr id="38" name="组合 37"/>
          <p:cNvGrpSpPr/>
          <p:nvPr/>
        </p:nvGrpSpPr>
        <p:grpSpPr>
          <a:xfrm>
            <a:off x="5142016" y="861060"/>
            <a:ext cx="2758045" cy="5190490"/>
            <a:chOff x="1633" y="2019"/>
            <a:chExt cx="2791" cy="8174"/>
          </a:xfrm>
        </p:grpSpPr>
        <p:sp>
          <p:nvSpPr>
            <p:cNvPr id="2" name="圆角矩形 1"/>
            <p:cNvSpPr/>
            <p:nvPr/>
          </p:nvSpPr>
          <p:spPr>
            <a:xfrm>
              <a:off x="1639" y="2735"/>
              <a:ext cx="2722" cy="4821"/>
            </a:xfrm>
            <a:prstGeom prst="roundRect">
              <a:avLst>
                <a:gd name="adj" fmla="val 3230"/>
              </a:avLst>
            </a:prstGeom>
            <a:noFill/>
            <a:ln w="19050">
              <a:solidFill>
                <a:schemeClr val="accent1"/>
              </a:solidFill>
            </a:ln>
          </p:spPr>
          <p:txBody>
            <a:bodyPr rtlCol="0" anchor="ctr"/>
            <a:p>
              <a:pPr algn="ctr"/>
              <a:endParaRPr lang="zh-CN" altLang="en-US" sz="1600">
                <a:solidFill>
                  <a:schemeClr val="tx2"/>
                </a:solidFill>
                <a:latin typeface="微软雅黑" panose="020B0503020204020204" pitchFamily="34" charset="-122"/>
                <a:ea typeface="微软雅黑" panose="020B0503020204020204" pitchFamily="34" charset="-122"/>
              </a:endParaRPr>
            </a:p>
          </p:txBody>
        </p:sp>
        <p:cxnSp>
          <p:nvCxnSpPr>
            <p:cNvPr id="3" name="直接箭头连接符 2"/>
            <p:cNvCxnSpPr/>
            <p:nvPr/>
          </p:nvCxnSpPr>
          <p:spPr>
            <a:xfrm>
              <a:off x="1922" y="3896"/>
              <a:ext cx="2158" cy="0"/>
            </a:xfrm>
            <a:prstGeom prst="straightConnector1">
              <a:avLst/>
            </a:prstGeom>
            <a:noFill/>
            <a:ln w="19050">
              <a:solidFill>
                <a:schemeClr val="accent1"/>
              </a:solidFill>
              <a:headEnd type="oval" w="med" len="med"/>
              <a:tailEnd type="oval" w="med" len="med"/>
            </a:ln>
          </p:spPr>
        </p:cxnSp>
        <p:cxnSp>
          <p:nvCxnSpPr>
            <p:cNvPr id="10" name="直接箭头连接符 9"/>
            <p:cNvCxnSpPr/>
            <p:nvPr/>
          </p:nvCxnSpPr>
          <p:spPr>
            <a:xfrm>
              <a:off x="1922" y="4481"/>
              <a:ext cx="2158" cy="0"/>
            </a:xfrm>
            <a:prstGeom prst="straightConnector1">
              <a:avLst/>
            </a:prstGeom>
            <a:noFill/>
            <a:ln w="19050">
              <a:solidFill>
                <a:schemeClr val="accent1"/>
              </a:solidFill>
              <a:headEnd type="oval" w="med" len="med"/>
              <a:tailEnd type="oval" w="med" len="med"/>
            </a:ln>
          </p:spPr>
        </p:cxnSp>
        <p:sp>
          <p:nvSpPr>
            <p:cNvPr id="11" name="矩形 10"/>
            <p:cNvSpPr/>
            <p:nvPr/>
          </p:nvSpPr>
          <p:spPr>
            <a:xfrm>
              <a:off x="1633" y="4558"/>
              <a:ext cx="2791" cy="5635"/>
            </a:xfrm>
            <a:prstGeom prst="rect">
              <a:avLst/>
            </a:prstGeom>
          </p:spPr>
          <p:txBody>
            <a:bodyPr wrap="square">
              <a:spAutoFit/>
            </a:bodyPr>
            <a:p>
              <a:pPr algn="l" defTabSz="912495">
                <a:lnSpc>
                  <a:spcPct val="110000"/>
                </a:lnSpc>
                <a:spcBef>
                  <a:spcPct val="20000"/>
                </a:spcBef>
                <a:buClrTx/>
                <a:buSzTx/>
                <a:buFontTx/>
                <a:buNone/>
                <a:defRPr/>
              </a:pPr>
              <a:r>
                <a:rPr lang="en-US" altLang="zh-CN" sz="1800" dirty="0">
                  <a:latin typeface="微软雅黑" panose="020B0503020204020204" pitchFamily="34" charset="-122"/>
                  <a:ea typeface="微软雅黑" panose="020B0503020204020204" pitchFamily="34" charset="-122"/>
                  <a:sym typeface="+mn-ea"/>
                </a:rPr>
                <a:t>     </a:t>
              </a:r>
              <a:r>
                <a:rPr lang="zh-CN" altLang="en-US" sz="1800" b="1">
                  <a:ea typeface="华文仿宋"/>
                </a:rPr>
                <a:t>其一，调整贴现率的告示效应是相对的；其二，利差将随市场利率的变化而发生较大的波动；其三，控制货币供给量的主动权并不完全在中央银行。</a:t>
              </a:r>
              <a:endParaRPr lang="zh-CN" altLang="en-US" sz="1800" b="1">
                <a:ea typeface="华文仿宋"/>
              </a:endParaRPr>
            </a:p>
            <a:p>
              <a:pPr algn="l" defTabSz="912495">
                <a:lnSpc>
                  <a:spcPct val="130000"/>
                </a:lnSpc>
                <a:spcBef>
                  <a:spcPct val="20000"/>
                </a:spcBef>
                <a:buClrTx/>
                <a:buSzTx/>
                <a:buFontTx/>
                <a:buNone/>
                <a:defRPr/>
              </a:pPr>
              <a:endParaRPr lang="zh-CN" altLang="en-US" sz="1800">
                <a:latin typeface="Calibri" panose="020F0502020204030204" pitchFamily="34" charset="0"/>
              </a:endParaRPr>
            </a:p>
            <a:p>
              <a:pPr algn="l" defTabSz="912495">
                <a:lnSpc>
                  <a:spcPct val="130000"/>
                </a:lnSpc>
                <a:spcBef>
                  <a:spcPct val="20000"/>
                </a:spcBef>
                <a:buClrTx/>
                <a:buSzTx/>
                <a:buFontTx/>
                <a:buNone/>
                <a:defRPr/>
              </a:pPr>
              <a:endParaRPr lang="zh-CN" altLang="en-US" sz="1800" dirty="0">
                <a:latin typeface="宋体" panose="02010600030101010101" pitchFamily="2" charset="-122"/>
                <a:ea typeface="宋体" panose="02010600030101010101" pitchFamily="2" charset="-122"/>
              </a:endParaRPr>
            </a:p>
            <a:p>
              <a:pPr algn="l" defTabSz="912495">
                <a:lnSpc>
                  <a:spcPct val="130000"/>
                </a:lnSpc>
                <a:spcBef>
                  <a:spcPct val="20000"/>
                </a:spcBef>
                <a:buClrTx/>
                <a:buSzTx/>
                <a:buFontTx/>
                <a:buNone/>
                <a:defRPr/>
              </a:pPr>
              <a:endParaRPr lang="zh-CN" altLang="en-US" sz="1800">
                <a:latin typeface="Calibri" panose="020F0502020204030204" pitchFamily="34" charset="0"/>
              </a:endParaRPr>
            </a:p>
            <a:p>
              <a:pPr algn="l" defTabSz="912495">
                <a:lnSpc>
                  <a:spcPct val="130000"/>
                </a:lnSpc>
                <a:spcBef>
                  <a:spcPct val="20000"/>
                </a:spcBef>
                <a:buClrTx/>
                <a:buSzTx/>
                <a:buFontTx/>
                <a:buNone/>
                <a:defRPr/>
              </a:pPr>
              <a:endParaRPr lang="zh-CN" altLang="en-US" sz="18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矩形 11"/>
            <p:cNvSpPr/>
            <p:nvPr/>
          </p:nvSpPr>
          <p:spPr>
            <a:xfrm>
              <a:off x="2022" y="3880"/>
              <a:ext cx="1992" cy="628"/>
            </a:xfrm>
            <a:prstGeom prst="rect">
              <a:avLst/>
            </a:prstGeom>
          </p:spPr>
          <p:txBody>
            <a:bodyPr wrap="square">
              <a:spAutoFit/>
            </a:bodyPr>
            <a:p>
              <a:pPr algn="ctr"/>
              <a:r>
                <a:rPr lang="zh-CN" altLang="en-US" sz="2000" dirty="0">
                  <a:solidFill>
                    <a:schemeClr val="accent1"/>
                  </a:solidFill>
                  <a:latin typeface="微软雅黑" panose="020B0503020204020204" pitchFamily="34" charset="-122"/>
                  <a:ea typeface="微软雅黑" panose="020B0503020204020204" pitchFamily="34" charset="-122"/>
                </a:rPr>
                <a:t>法定存款准备金</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8" name="椭圆 17"/>
            <p:cNvSpPr/>
            <p:nvPr/>
          </p:nvSpPr>
          <p:spPr>
            <a:xfrm>
              <a:off x="2458" y="2019"/>
              <a:ext cx="1054" cy="1453"/>
            </a:xfrm>
            <a:prstGeom prst="ellipse">
              <a:avLst/>
            </a:prstGeom>
            <a:solidFill>
              <a:schemeClr val="accent1"/>
            </a:solidFill>
            <a:ln>
              <a:noFill/>
            </a:ln>
          </p:spPr>
          <p:txBody>
            <a:bodyPr vert="horz" wrap="square" lIns="91440" tIns="45720" rIns="91440" bIns="45720" numCol="1" anchor="t" anchorCtr="0" compatLnSpc="1"/>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2575" y="2384"/>
              <a:ext cx="850" cy="725"/>
            </a:xfrm>
            <a:prstGeom prst="rect">
              <a:avLst/>
            </a:prstGeom>
          </p:spPr>
          <p:txBody>
            <a:bodyPr wrap="square" anchor="ctr">
              <a:spAutoFit/>
            </a:bodyPr>
            <a:p>
              <a:pPr algn="ctr"/>
              <a:r>
                <a:rPr lang="zh-CN" altLang="en-US" sz="2400" dirty="0">
                  <a:solidFill>
                    <a:schemeClr val="bg1"/>
                  </a:solidFill>
                  <a:latin typeface="微软雅黑" panose="020B0503020204020204" pitchFamily="34" charset="-122"/>
                  <a:ea typeface="微软雅黑" panose="020B0503020204020204" pitchFamily="34" charset="-122"/>
                </a:rPr>
                <a:t>缺点</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1163915" y="908685"/>
            <a:ext cx="2820855" cy="3516858"/>
            <a:chOff x="5347" y="2010"/>
            <a:chExt cx="2801" cy="5638"/>
          </a:xfrm>
        </p:grpSpPr>
        <p:sp>
          <p:nvSpPr>
            <p:cNvPr id="13" name="圆角矩形 12"/>
            <p:cNvSpPr/>
            <p:nvPr/>
          </p:nvSpPr>
          <p:spPr>
            <a:xfrm>
              <a:off x="5371" y="2735"/>
              <a:ext cx="2722" cy="4912"/>
            </a:xfrm>
            <a:prstGeom prst="roundRect">
              <a:avLst>
                <a:gd name="adj" fmla="val 3230"/>
              </a:avLst>
            </a:prstGeom>
            <a:noFill/>
            <a:ln w="19050">
              <a:solidFill>
                <a:schemeClr val="accent2"/>
              </a:solidFill>
            </a:ln>
          </p:spPr>
          <p:txBody>
            <a:bodyPr rtlCol="0" anchor="ctr"/>
            <a:p>
              <a:pPr algn="ctr"/>
              <a:endParaRPr lang="zh-CN" altLang="en-US" sz="1600">
                <a:solidFill>
                  <a:schemeClr val="tx2"/>
                </a:solidFill>
                <a:latin typeface="微软雅黑" panose="020B0503020204020204" pitchFamily="34" charset="-122"/>
                <a:ea typeface="微软雅黑" panose="020B0503020204020204" pitchFamily="34" charset="-122"/>
              </a:endParaRPr>
            </a:p>
          </p:txBody>
        </p:sp>
        <p:sp>
          <p:nvSpPr>
            <p:cNvPr id="19" name="椭圆 18"/>
            <p:cNvSpPr/>
            <p:nvPr/>
          </p:nvSpPr>
          <p:spPr>
            <a:xfrm>
              <a:off x="6207" y="2010"/>
              <a:ext cx="962" cy="1489"/>
            </a:xfrm>
            <a:prstGeom prst="ellipse">
              <a:avLst/>
            </a:prstGeom>
            <a:solidFill>
              <a:schemeClr val="accent2"/>
            </a:solidFill>
            <a:ln>
              <a:noFill/>
            </a:ln>
          </p:spPr>
          <p:txBody>
            <a:bodyPr vert="horz" wrap="square" lIns="91440" tIns="45720" rIns="91440" bIns="45720" numCol="1" anchor="t" anchorCtr="0" compatLnSpc="1"/>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6311" y="2377"/>
              <a:ext cx="850" cy="738"/>
            </a:xfrm>
            <a:prstGeom prst="rect">
              <a:avLst/>
            </a:prstGeom>
          </p:spPr>
          <p:txBody>
            <a:bodyPr wrap="square" anchor="ctr">
              <a:spAutoFit/>
            </a:bodyPr>
            <a:p>
              <a:pPr algn="ctr"/>
              <a:r>
                <a:rPr lang="zh-CN" altLang="en-US" sz="2400" dirty="0">
                  <a:solidFill>
                    <a:schemeClr val="bg1"/>
                  </a:solidFill>
                  <a:latin typeface="微软雅黑" panose="020B0503020204020204" pitchFamily="34" charset="-122"/>
                  <a:ea typeface="微软雅黑" panose="020B0503020204020204" pitchFamily="34" charset="-122"/>
                </a:rPr>
                <a:t>优点</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a:off x="5662" y="3913"/>
              <a:ext cx="2158" cy="0"/>
            </a:xfrm>
            <a:prstGeom prst="straightConnector1">
              <a:avLst/>
            </a:prstGeom>
            <a:noFill/>
            <a:ln w="19050">
              <a:solidFill>
                <a:schemeClr val="accent2"/>
              </a:solidFill>
              <a:headEnd type="oval" w="med" len="med"/>
              <a:tailEnd type="oval" w="med" len="med"/>
            </a:ln>
          </p:spPr>
        </p:cxnSp>
        <p:cxnSp>
          <p:nvCxnSpPr>
            <p:cNvPr id="31" name="直接箭头连接符 30"/>
            <p:cNvCxnSpPr/>
            <p:nvPr/>
          </p:nvCxnSpPr>
          <p:spPr>
            <a:xfrm>
              <a:off x="5662" y="4498"/>
              <a:ext cx="2158" cy="0"/>
            </a:xfrm>
            <a:prstGeom prst="straightConnector1">
              <a:avLst/>
            </a:prstGeom>
            <a:noFill/>
            <a:ln w="19050">
              <a:solidFill>
                <a:schemeClr val="accent2"/>
              </a:solidFill>
              <a:headEnd type="oval" w="med" len="med"/>
              <a:tailEnd type="oval" w="med" len="med"/>
            </a:ln>
          </p:spPr>
        </p:cxnSp>
        <p:sp>
          <p:nvSpPr>
            <p:cNvPr id="5" name="矩形 4"/>
            <p:cNvSpPr/>
            <p:nvPr/>
          </p:nvSpPr>
          <p:spPr>
            <a:xfrm>
              <a:off x="5347" y="4573"/>
              <a:ext cx="2801" cy="3075"/>
            </a:xfrm>
            <a:prstGeom prst="rect">
              <a:avLst/>
            </a:prstGeom>
          </p:spPr>
          <p:txBody>
            <a:bodyPr wrap="square">
              <a:spAutoFit/>
            </a:bodyPr>
            <a:p>
              <a:pPr defTabSz="912495">
                <a:lnSpc>
                  <a:spcPct val="110000"/>
                </a:lnSpc>
                <a:spcBef>
                  <a:spcPct val="20000"/>
                </a:spcBef>
                <a:defRPr/>
              </a:pPr>
              <a:r>
                <a:rPr lang="en-US" altLang="zh-CN" sz="1800" dirty="0">
                  <a:latin typeface="微软雅黑" panose="020B0503020204020204" pitchFamily="34" charset="-122"/>
                  <a:ea typeface="微软雅黑" panose="020B0503020204020204" pitchFamily="34" charset="-122"/>
                  <a:sym typeface="+mn-ea"/>
                </a:rPr>
                <a:t>     </a:t>
              </a:r>
              <a:r>
                <a:rPr lang="zh-CN" altLang="en-US" sz="1800" b="1">
                  <a:ea typeface="华文仿宋"/>
                  <a:sym typeface="Arial" panose="020B0604020202020204" pitchFamily="34" charset="0"/>
                </a:rPr>
                <a:t>中央银行可利用它来履行最后贷款人的职责，并在一定程度上体现中央银行的政策意图，既可以调节货币总量，又可以调节信贷结构。</a:t>
              </a:r>
              <a:endParaRPr lang="zh-CN" altLang="en-US" sz="1800" b="1">
                <a:ea typeface="华文仿宋"/>
                <a:sym typeface="Arial" panose="020B0604020202020204" pitchFamily="34" charset="0"/>
              </a:endParaRPr>
            </a:p>
          </p:txBody>
        </p:sp>
        <p:sp>
          <p:nvSpPr>
            <p:cNvPr id="14" name="矩形 13"/>
            <p:cNvSpPr/>
            <p:nvPr/>
          </p:nvSpPr>
          <p:spPr>
            <a:xfrm>
              <a:off x="5728" y="3897"/>
              <a:ext cx="2160" cy="639"/>
            </a:xfrm>
            <a:prstGeom prst="rect">
              <a:avLst/>
            </a:prstGeom>
          </p:spPr>
          <p:txBody>
            <a:bodyPr wrap="square">
              <a:spAutoFit/>
            </a:bodyPr>
            <a:p>
              <a:pPr algn="ctr"/>
              <a:r>
                <a:rPr lang="zh-CN" altLang="en-US" sz="2000" dirty="0">
                  <a:solidFill>
                    <a:schemeClr val="accent2"/>
                  </a:solidFill>
                  <a:latin typeface="微软雅黑" panose="020B0503020204020204" pitchFamily="34" charset="-122"/>
                  <a:ea typeface="微软雅黑" panose="020B0503020204020204" pitchFamily="34" charset="-122"/>
                </a:rPr>
                <a:t>法定存款准备金</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blinds(horizontal)">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691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sp>
        <p:nvSpPr>
          <p:cNvPr id="49" name="TextBox 48"/>
          <p:cNvSpPr txBox="1"/>
          <p:nvPr/>
        </p:nvSpPr>
        <p:spPr>
          <a:xfrm>
            <a:off x="3606165" y="2256790"/>
            <a:ext cx="6878955" cy="622300"/>
          </a:xfrm>
          <a:prstGeom prst="rect">
            <a:avLst/>
          </a:prstGeom>
          <a:noFill/>
        </p:spPr>
        <p:txBody>
          <a:bodyPr wrap="square" lIns="68584" tIns="34291" rIns="68584" bIns="34291" rtlCol="0">
            <a:spAutoFit/>
          </a:bodyPr>
          <a:lstStyle/>
          <a:p>
            <a:pPr algn="l"/>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公开市场业务与操作</a:t>
            </a:r>
            <a:endPar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 name="文本框 6"/>
          <p:cNvSpPr txBox="1"/>
          <p:nvPr/>
        </p:nvSpPr>
        <p:spPr>
          <a:xfrm>
            <a:off x="1043940" y="1903730"/>
            <a:ext cx="1682750" cy="1299210"/>
          </a:xfrm>
          <a:prstGeom prst="rect">
            <a:avLst/>
          </a:prstGeom>
          <a:noFill/>
        </p:spPr>
        <p:txBody>
          <a:bodyPr wrap="square" lIns="68580" tIns="34290" rIns="68580" bIns="34290" rtlCol="0">
            <a:spAutoFit/>
          </a:bodyPr>
          <a:p>
            <a:r>
              <a:rPr lang="en-US" altLang="zh-CN" sz="8000" dirty="0">
                <a:solidFill>
                  <a:schemeClr val="bg1">
                    <a:lumMod val="95000"/>
                  </a:schemeClr>
                </a:solidFill>
                <a:latin typeface="Impact" panose="020B0806030902050204" pitchFamily="34" charset="0"/>
              </a:rPr>
              <a:t>0</a:t>
            </a:r>
            <a:r>
              <a:rPr lang="en-US" sz="8000" dirty="0">
                <a:solidFill>
                  <a:schemeClr val="bg1">
                    <a:lumMod val="95000"/>
                  </a:schemeClr>
                </a:solidFill>
                <a:latin typeface="Impact" panose="020B0806030902050204" pitchFamily="34" charset="0"/>
              </a:rPr>
              <a:t>3</a:t>
            </a:r>
            <a:endParaRPr lang="en-US" sz="8000" dirty="0">
              <a:solidFill>
                <a:schemeClr val="bg1">
                  <a:lumMod val="95000"/>
                </a:schemeClr>
              </a:solidFill>
              <a:latin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78155" y="2809240"/>
            <a:ext cx="3675380" cy="2197100"/>
          </a:xfrm>
          <a:prstGeom prst="ellipse">
            <a:avLst/>
          </a:prstGeom>
        </p:spPr>
      </p:pic>
      <p:grpSp>
        <p:nvGrpSpPr>
          <p:cNvPr id="32" name="组合 31"/>
          <p:cNvGrpSpPr/>
          <p:nvPr/>
        </p:nvGrpSpPr>
        <p:grpSpPr>
          <a:xfrm rot="0">
            <a:off x="0" y="32385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01</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2" name="文本框 3"/>
          <p:cNvSpPr txBox="1"/>
          <p:nvPr/>
        </p:nvSpPr>
        <p:spPr>
          <a:xfrm>
            <a:off x="690880" y="33925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公开市场业务的含义</a:t>
            </a:r>
            <a:endParaRPr lang="zh-CN" altLang="en-US" sz="2400" b="1" dirty="0">
              <a:latin typeface="微软雅黑" panose="020B0503020204020204" pitchFamily="34" charset="-122"/>
              <a:ea typeface="微软雅黑" panose="020B0503020204020204" pitchFamily="34" charset="-122"/>
              <a:sym typeface="+mn-ea"/>
            </a:endParaRPr>
          </a:p>
        </p:txBody>
      </p:sp>
      <p:sp>
        <p:nvSpPr>
          <p:cNvPr id="25" name="文本框 24"/>
          <p:cNvSpPr txBox="1"/>
          <p:nvPr/>
        </p:nvSpPr>
        <p:spPr>
          <a:xfrm>
            <a:off x="1017270" y="1346835"/>
            <a:ext cx="7051675" cy="1288415"/>
          </a:xfrm>
          <a:prstGeom prst="rect">
            <a:avLst/>
          </a:prstGeom>
          <a:ln w="12700" cmpd="sng">
            <a:solidFill>
              <a:schemeClr val="tx1"/>
            </a:solidFill>
            <a:prstDash val="sysDash"/>
          </a:ln>
        </p:spPr>
        <p:style>
          <a:lnRef idx="2">
            <a:schemeClr val="accent5"/>
          </a:lnRef>
          <a:fillRef idx="1">
            <a:schemeClr val="lt1"/>
          </a:fillRef>
          <a:effectRef idx="0">
            <a:schemeClr val="accent5"/>
          </a:effectRef>
          <a:fontRef idx="minor">
            <a:schemeClr val="dk1"/>
          </a:fontRef>
        </p:style>
        <p:txBody>
          <a:bodyPr wrap="square" rtlCol="0">
            <a:noAutofit/>
          </a:bodyPr>
          <a:p>
            <a:pPr indent="0">
              <a:lnSpc>
                <a:spcPct val="140000"/>
              </a:lnSpc>
              <a:buFont typeface="Arial" panose="020B0604020202020204" pitchFamily="34" charset="0"/>
              <a:buNone/>
            </a:pPr>
            <a:r>
              <a:rPr lang="en-US" altLang="zh-CN" sz="2000" dirty="0">
                <a:solidFill>
                  <a:schemeClr val="tx1">
                    <a:lumMod val="95000"/>
                    <a:lumOff val="5000"/>
                  </a:schemeClr>
                </a:solidFill>
                <a:latin typeface="宋体" panose="02010600030101010101" pitchFamily="2" charset="-122"/>
                <a:ea typeface="宋体" panose="02010600030101010101" pitchFamily="2" charset="-122"/>
              </a:rPr>
              <a:t>    </a:t>
            </a:r>
            <a:r>
              <a:rPr lang="zh-CN" altLang="en-US" sz="1800" b="1">
                <a:solidFill>
                  <a:schemeClr val="tx1"/>
                </a:solidFill>
                <a:ea typeface="华文仿宋"/>
              </a:rPr>
              <a:t>指中央银行在金融市场买进或卖出有价证券，以改变商业银行等存款货币机构的准备金，进而影响货币供给量和利率，实现货币政策目标的一种政策措施。</a:t>
            </a:r>
            <a:endParaRPr lang="zh-CN" altLang="en-US" sz="1800" b="1">
              <a:solidFill>
                <a:schemeClr val="tx1"/>
              </a:solidFill>
              <a:ea typeface="华文仿宋"/>
            </a:endParaRPr>
          </a:p>
          <a:p>
            <a:pPr indent="0">
              <a:lnSpc>
                <a:spcPct val="140000"/>
              </a:lnSpc>
              <a:buFont typeface="Arial" panose="020B0604020202020204" pitchFamily="34" charset="0"/>
              <a:buNone/>
            </a:pPr>
            <a:endParaRPr lang="zh-CN" altLang="en-US" sz="1800" b="1">
              <a:solidFill>
                <a:schemeClr val="tx1"/>
              </a:solidFill>
              <a:ea typeface="华文仿宋"/>
            </a:endParaRPr>
          </a:p>
        </p:txBody>
      </p:sp>
      <p:pic>
        <p:nvPicPr>
          <p:cNvPr id="5" name="图片 4"/>
          <p:cNvPicPr>
            <a:picLocks noChangeAspect="1"/>
          </p:cNvPicPr>
          <p:nvPr/>
        </p:nvPicPr>
        <p:blipFill>
          <a:blip r:embed="rId2"/>
          <a:stretch>
            <a:fillRect/>
          </a:stretch>
        </p:blipFill>
        <p:spPr>
          <a:xfrm>
            <a:off x="4714240" y="2809240"/>
            <a:ext cx="3815080" cy="2118995"/>
          </a:xfrm>
          <a:prstGeom prst="ellipse">
            <a:avLst/>
          </a:prstGeom>
        </p:spPr>
      </p:pic>
      <p:sp>
        <p:nvSpPr>
          <p:cNvPr id="6" name="矩形 5"/>
          <p:cNvSpPr/>
          <p:nvPr/>
        </p:nvSpPr>
        <p:spPr>
          <a:xfrm>
            <a:off x="-684530" y="2715260"/>
            <a:ext cx="10800715" cy="2736850"/>
          </a:xfrm>
          <a:prstGeom prst="rect">
            <a:avLst/>
          </a:prstGeom>
          <a:solidFill>
            <a:schemeClr val="bg1">
              <a:alpha val="62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custDataLst>
              <p:tags r:id="rId1"/>
            </p:custDataLst>
          </p:nvPr>
        </p:nvSpPr>
        <p:spPr>
          <a:xfrm>
            <a:off x="2988310" y="3652520"/>
            <a:ext cx="5452745"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7" name="标题 1"/>
          <p:cNvSpPr txBox="1"/>
          <p:nvPr>
            <p:custDataLst>
              <p:tags r:id="rId2"/>
            </p:custDataLst>
          </p:nvPr>
        </p:nvSpPr>
        <p:spPr>
          <a:xfrm>
            <a:off x="2916555" y="1059180"/>
            <a:ext cx="5556885" cy="723900"/>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grpSp>
        <p:nvGrpSpPr>
          <p:cNvPr id="32" name="组合 31"/>
          <p:cNvGrpSpPr/>
          <p:nvPr/>
        </p:nvGrpSpPr>
        <p:grpSpPr>
          <a:xfrm rot="0">
            <a:off x="0" y="18034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b="1" dirty="0"/>
                <a:t>02</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p>
          </p:txBody>
        </p:sp>
      </p:grpSp>
      <p:sp>
        <p:nvSpPr>
          <p:cNvPr id="2" name="文本框 3"/>
          <p:cNvSpPr txBox="1"/>
          <p:nvPr/>
        </p:nvSpPr>
        <p:spPr>
          <a:xfrm>
            <a:off x="762635" y="195742"/>
            <a:ext cx="4925060" cy="460375"/>
          </a:xfrm>
          <a:prstGeom prst="rect">
            <a:avLst/>
          </a:prstGeom>
          <a:noFill/>
        </p:spPr>
        <p:txBody>
          <a:bodyPr wrap="square" rtlCol="0">
            <a:spAutoFit/>
          </a:bodyPr>
          <a:p>
            <a:pPr algn="l">
              <a:buClrTx/>
              <a:buSzTx/>
              <a:buFontTx/>
            </a:pPr>
            <a:r>
              <a:rPr lang="zh-CN" altLang="en-US" sz="2400" b="1" dirty="0">
                <a:latin typeface="微软雅黑" panose="020B0503020204020204" pitchFamily="34" charset="-122"/>
                <a:ea typeface="微软雅黑" panose="020B0503020204020204" pitchFamily="34" charset="-122"/>
                <a:sym typeface="+mn-ea"/>
              </a:rPr>
              <a:t>公开市场业务</a:t>
            </a:r>
            <a:r>
              <a:rPr lang="zh-CN" altLang="en-US" sz="2400" b="1" dirty="0">
                <a:latin typeface="微软雅黑" panose="020B0503020204020204" pitchFamily="34" charset="-122"/>
                <a:ea typeface="微软雅黑" panose="020B0503020204020204" pitchFamily="34" charset="-122"/>
                <a:sym typeface="+mn-ea"/>
              </a:rPr>
              <a:t>的作用</a:t>
            </a:r>
            <a:endParaRPr lang="zh-CN" altLang="en-US" sz="2400" b="1" dirty="0">
              <a:latin typeface="微软雅黑" panose="020B0503020204020204" pitchFamily="34" charset="-122"/>
              <a:ea typeface="微软雅黑" panose="020B0503020204020204" pitchFamily="34" charset="-122"/>
              <a:sym typeface="+mn-ea"/>
            </a:endParaRPr>
          </a:p>
        </p:txBody>
      </p:sp>
      <p:pic>
        <p:nvPicPr>
          <p:cNvPr id="12" name="图片 11"/>
          <p:cNvPicPr>
            <a:picLocks noChangeAspect="1"/>
          </p:cNvPicPr>
          <p:nvPr/>
        </p:nvPicPr>
        <p:blipFill>
          <a:blip r:embed="rId3">
            <a:alphaModFix amt="100000"/>
          </a:blip>
          <a:srcRect l="21978" r="21978"/>
          <a:stretch>
            <a:fillRect/>
          </a:stretch>
        </p:blipFill>
        <p:spPr>
          <a:xfrm>
            <a:off x="521410" y="1731008"/>
            <a:ext cx="2274114" cy="2274114"/>
          </a:xfrm>
          <a:custGeom>
            <a:avLst/>
            <a:gdLst/>
            <a:ahLst/>
            <a:cxnLst/>
            <a:rect l="l" t="t" r="r" b="b"/>
            <a:pathLst>
              <a:path w="3035300" h="3035300">
                <a:moveTo>
                  <a:pt x="1516076" y="0"/>
                </a:moveTo>
                <a:cubicBezTo>
                  <a:pt x="2353382" y="0"/>
                  <a:pt x="3032152" y="678770"/>
                  <a:pt x="3032152" y="1516076"/>
                </a:cubicBezTo>
                <a:cubicBezTo>
                  <a:pt x="3032152" y="2353382"/>
                  <a:pt x="2353382" y="3032152"/>
                  <a:pt x="1516076" y="3032152"/>
                </a:cubicBezTo>
                <a:cubicBezTo>
                  <a:pt x="678770" y="3032152"/>
                  <a:pt x="0" y="2353382"/>
                  <a:pt x="0" y="1516076"/>
                </a:cubicBezTo>
                <a:cubicBezTo>
                  <a:pt x="0" y="678770"/>
                  <a:pt x="678770" y="0"/>
                  <a:pt x="1516076" y="0"/>
                </a:cubicBezTo>
                <a:close/>
              </a:path>
            </a:pathLst>
          </a:custGeom>
          <a:noFill/>
          <a:ln>
            <a:noFill/>
          </a:ln>
        </p:spPr>
      </p:pic>
      <p:sp>
        <p:nvSpPr>
          <p:cNvPr id="3" name="标题 1"/>
          <p:cNvSpPr txBox="1"/>
          <p:nvPr/>
        </p:nvSpPr>
        <p:spPr>
          <a:xfrm>
            <a:off x="806789" y="2016386"/>
            <a:ext cx="1703357" cy="1703357"/>
          </a:xfrm>
          <a:prstGeom prst="flowChartConnector">
            <a:avLst/>
          </a:prstGeom>
          <a:solidFill>
            <a:srgbClr val="005DA2">
              <a:alpha val="80000"/>
            </a:srgbClr>
          </a:solidFill>
          <a:ln w="12700" cap="sq">
            <a:noFill/>
            <a:miter/>
          </a:ln>
        </p:spPr>
        <p:txBody>
          <a:bodyPr vert="horz" wrap="square" lIns="68580" tIns="34290" rIns="68580" bIns="34290" rtlCol="0" anchor="ctr"/>
          <a:p>
            <a:pPr algn="ctr">
              <a:lnSpc>
                <a:spcPct val="110000"/>
              </a:lnSpc>
            </a:pPr>
            <a:endParaRPr kumimoji="1" lang="zh-CN" altLang="en-US" sz="1350"/>
          </a:p>
        </p:txBody>
      </p:sp>
      <p:sp>
        <p:nvSpPr>
          <p:cNvPr id="14" name="标题 1"/>
          <p:cNvSpPr txBox="1"/>
          <p:nvPr/>
        </p:nvSpPr>
        <p:spPr>
          <a:xfrm>
            <a:off x="1360656" y="2598065"/>
            <a:ext cx="595622" cy="540001"/>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68580" tIns="34290" rIns="68580" bIns="34290" rtlCol="0" anchor="ctr"/>
          <a:p>
            <a:pPr algn="l">
              <a:lnSpc>
                <a:spcPct val="110000"/>
              </a:lnSpc>
            </a:pPr>
            <a:endParaRPr kumimoji="1" lang="zh-CN" altLang="en-US" sz="1350"/>
          </a:p>
        </p:txBody>
      </p:sp>
      <p:sp>
        <p:nvSpPr>
          <p:cNvPr id="9" name="标题 1"/>
          <p:cNvSpPr txBox="1"/>
          <p:nvPr>
            <p:custDataLst>
              <p:tags r:id="rId4"/>
            </p:custDataLst>
          </p:nvPr>
        </p:nvSpPr>
        <p:spPr>
          <a:xfrm>
            <a:off x="3014345" y="1200150"/>
            <a:ext cx="5519420" cy="379095"/>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1.调控存款货币银行准备金和货币供给量。</a:t>
            </a:r>
            <a:endParaRPr lang="zh-CN" altLang="en-US" b="1">
              <a:ea typeface="华文仿宋"/>
            </a:endParaRPr>
          </a:p>
        </p:txBody>
      </p:sp>
      <p:sp>
        <p:nvSpPr>
          <p:cNvPr id="11" name="标题 1"/>
          <p:cNvSpPr txBox="1"/>
          <p:nvPr>
            <p:custDataLst>
              <p:tags r:id="rId5"/>
            </p:custDataLst>
          </p:nvPr>
        </p:nvSpPr>
        <p:spPr>
          <a:xfrm>
            <a:off x="3403600" y="2413000"/>
            <a:ext cx="4941570" cy="719455"/>
          </a:xfrm>
          <a:prstGeom prst="roundRect">
            <a:avLst>
              <a:gd name="adj" fmla="val 14556"/>
            </a:avLst>
          </a:prstGeom>
          <a:solidFill>
            <a:schemeClr val="bg1"/>
          </a:solidFill>
          <a:ln w="12700" cap="sq">
            <a:noFill/>
            <a:miter/>
          </a:ln>
          <a:effectLst>
            <a:outerShdw blurRad="190500" sx="102000" sy="102000" algn="ctr" rotWithShape="0">
              <a:schemeClr val="accent1">
                <a:alpha val="9000"/>
              </a:schemeClr>
            </a:outerShdw>
          </a:effectLst>
        </p:spPr>
        <p:txBody>
          <a:bodyPr vert="horz" wrap="square" lIns="68580" tIns="34290" rIns="68580" bIns="34290" rtlCol="0" anchor="ctr"/>
          <a:p>
            <a:pPr algn="ctr">
              <a:lnSpc>
                <a:spcPct val="110000"/>
              </a:lnSpc>
            </a:pPr>
            <a:endParaRPr kumimoji="1" lang="zh-CN" altLang="en-US" sz="1350"/>
          </a:p>
        </p:txBody>
      </p:sp>
      <p:sp>
        <p:nvSpPr>
          <p:cNvPr id="4" name="标题 1"/>
          <p:cNvSpPr txBox="1"/>
          <p:nvPr>
            <p:custDataLst>
              <p:tags r:id="rId6"/>
            </p:custDataLst>
          </p:nvPr>
        </p:nvSpPr>
        <p:spPr>
          <a:xfrm>
            <a:off x="3639788" y="2518695"/>
            <a:ext cx="4761450" cy="379314"/>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2.影响利率水平和利率结构。</a:t>
            </a:r>
            <a:endParaRPr lang="zh-CN" altLang="en-US" b="1">
              <a:ea typeface="华文仿宋"/>
            </a:endParaRPr>
          </a:p>
        </p:txBody>
      </p:sp>
      <p:sp>
        <p:nvSpPr>
          <p:cNvPr id="20" name="标题 1"/>
          <p:cNvSpPr txBox="1"/>
          <p:nvPr>
            <p:custDataLst>
              <p:tags r:id="rId7"/>
            </p:custDataLst>
          </p:nvPr>
        </p:nvSpPr>
        <p:spPr>
          <a:xfrm>
            <a:off x="3187065" y="3716020"/>
            <a:ext cx="5346065" cy="537210"/>
          </a:xfrm>
          <a:prstGeom prst="rect">
            <a:avLst/>
          </a:prstGeom>
          <a:noFill/>
          <a:ln>
            <a:noFill/>
          </a:ln>
        </p:spPr>
        <p:txBody>
          <a:bodyPr vert="horz" wrap="square" lIns="68580" tIns="34290" rIns="68580" bIns="34290" rtlCol="0" anchor="ctr"/>
          <a:p>
            <a:pPr algn="l">
              <a:lnSpc>
                <a:spcPct val="130000"/>
              </a:lnSpc>
            </a:pPr>
            <a:r>
              <a:rPr lang="zh-CN" altLang="en-US" b="1">
                <a:ea typeface="华文仿宋"/>
              </a:rPr>
              <a:t>3.与再贴现政策配合使用，可以提高货币政策效果。</a:t>
            </a:r>
            <a:endParaRPr lang="zh-CN" altLang="en-US" b="1">
              <a:ea typeface="华文仿宋"/>
            </a:endParaRPr>
          </a:p>
        </p:txBody>
      </p:sp>
    </p:spTree>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59"/>
          <p:cNvGrpSpPr/>
          <p:nvPr/>
        </p:nvGrpSpPr>
        <p:grpSpPr>
          <a:xfrm>
            <a:off x="4624381" y="1291303"/>
            <a:ext cx="591538" cy="591538"/>
            <a:chOff x="10565" y="3111"/>
            <a:chExt cx="1310" cy="1310"/>
          </a:xfrm>
        </p:grpSpPr>
        <p:sp>
          <p:nvSpPr>
            <p:cNvPr id="61" name="Rounded Rectangle 13"/>
            <p:cNvSpPr/>
            <p:nvPr/>
          </p:nvSpPr>
          <p:spPr bwMode="auto">
            <a:xfrm>
              <a:off x="10565" y="3111"/>
              <a:ext cx="1310" cy="1310"/>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62" name="Group 29"/>
            <p:cNvGrpSpPr/>
            <p:nvPr/>
          </p:nvGrpSpPr>
          <p:grpSpPr bwMode="auto">
            <a:xfrm>
              <a:off x="10965" y="3398"/>
              <a:ext cx="503" cy="733"/>
              <a:chOff x="5441157" y="4440238"/>
              <a:chExt cx="319088" cy="465138"/>
            </a:xfrm>
            <a:solidFill>
              <a:sysClr val="window" lastClr="FFFFFF"/>
            </a:solidFill>
          </p:grpSpPr>
          <p:sp>
            <p:nvSpPr>
              <p:cNvPr id="63" name="AutoShape 97"/>
              <p:cNvSpPr/>
              <p:nvPr/>
            </p:nvSpPr>
            <p:spPr bwMode="auto">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64" name="AutoShape 98"/>
              <p:cNvSpPr/>
              <p:nvPr/>
            </p:nvSpPr>
            <p:spPr bwMode="auto">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65" name="AutoShape 99"/>
              <p:cNvSpPr/>
              <p:nvPr/>
            </p:nvSpPr>
            <p:spPr bwMode="auto">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sp>
        <p:nvSpPr>
          <p:cNvPr id="66" name="TextBox 76"/>
          <p:cNvSpPr txBox="1"/>
          <p:nvPr/>
        </p:nvSpPr>
        <p:spPr>
          <a:xfrm>
            <a:off x="1836420" y="1263015"/>
            <a:ext cx="2902585" cy="64516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公开市场业务的主动权完全在中央银行</a:t>
            </a:r>
            <a:r>
              <a:rPr lang="en-US" altLang="zh-CN" sz="1800" b="1">
                <a:ea typeface="华文仿宋"/>
                <a:sym typeface="Arial" panose="020B0604020202020204" pitchFamily="34" charset="0"/>
              </a:rPr>
              <a:t> </a:t>
            </a:r>
            <a:r>
              <a:rPr lang="zh-CN" altLang="en-US" sz="1800" b="1">
                <a:ea typeface="华文仿宋"/>
                <a:sym typeface="Arial" panose="020B0604020202020204" pitchFamily="34" charset="0"/>
              </a:rPr>
              <a:t>。</a:t>
            </a:r>
            <a:endParaRPr lang="zh-CN" altLang="en-US" sz="1800" b="1">
              <a:ea typeface="华文仿宋"/>
              <a:sym typeface="Arial" panose="020B0604020202020204" pitchFamily="34" charset="0"/>
            </a:endParaRPr>
          </a:p>
        </p:txBody>
      </p:sp>
      <p:grpSp>
        <p:nvGrpSpPr>
          <p:cNvPr id="67" name="组合 66"/>
          <p:cNvGrpSpPr/>
          <p:nvPr/>
        </p:nvGrpSpPr>
        <p:grpSpPr>
          <a:xfrm>
            <a:off x="1090013" y="1291303"/>
            <a:ext cx="591538" cy="591538"/>
            <a:chOff x="2219" y="3111"/>
            <a:chExt cx="1310" cy="1310"/>
          </a:xfrm>
        </p:grpSpPr>
        <p:sp>
          <p:nvSpPr>
            <p:cNvPr id="68" name="Rounded Rectangle 6"/>
            <p:cNvSpPr/>
            <p:nvPr/>
          </p:nvSpPr>
          <p:spPr bwMode="auto">
            <a:xfrm>
              <a:off x="2219" y="3111"/>
              <a:ext cx="1310" cy="1310"/>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69" name="Group 33"/>
            <p:cNvGrpSpPr/>
            <p:nvPr/>
          </p:nvGrpSpPr>
          <p:grpSpPr bwMode="auto">
            <a:xfrm>
              <a:off x="2499" y="3420"/>
              <a:ext cx="733" cy="687"/>
              <a:chOff x="5368132" y="3540124"/>
              <a:chExt cx="465138" cy="435768"/>
            </a:xfrm>
            <a:solidFill>
              <a:sysClr val="window" lastClr="FFFFFF"/>
            </a:solidFill>
          </p:grpSpPr>
          <p:sp>
            <p:nvSpPr>
              <p:cNvPr id="70"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71" name="AutoShape 111"/>
              <p:cNvSpPr/>
              <p:nvPr/>
            </p:nvSpPr>
            <p:spPr bwMode="auto">
              <a:xfrm>
                <a:off x="5368132" y="3540124"/>
                <a:ext cx="465138" cy="4357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grpSp>
        <p:nvGrpSpPr>
          <p:cNvPr id="77" name="组合 76"/>
          <p:cNvGrpSpPr/>
          <p:nvPr/>
        </p:nvGrpSpPr>
        <p:grpSpPr>
          <a:xfrm>
            <a:off x="1090013" y="2405371"/>
            <a:ext cx="591538" cy="590635"/>
            <a:chOff x="2219" y="5512"/>
            <a:chExt cx="1310" cy="1308"/>
          </a:xfrm>
        </p:grpSpPr>
        <p:sp>
          <p:nvSpPr>
            <p:cNvPr id="78" name="Rounded Rectangle 7"/>
            <p:cNvSpPr/>
            <p:nvPr/>
          </p:nvSpPr>
          <p:spPr bwMode="auto">
            <a:xfrm>
              <a:off x="2219" y="5512"/>
              <a:ext cx="1310" cy="1308"/>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79" name="Group 39"/>
            <p:cNvGrpSpPr/>
            <p:nvPr/>
          </p:nvGrpSpPr>
          <p:grpSpPr bwMode="auto">
            <a:xfrm>
              <a:off x="2511" y="5801"/>
              <a:ext cx="732" cy="730"/>
              <a:chOff x="3510757" y="2582069"/>
              <a:chExt cx="464344" cy="464344"/>
            </a:xfrm>
            <a:solidFill>
              <a:sysClr val="window" lastClr="FFFFFF"/>
            </a:solidFill>
          </p:grpSpPr>
          <p:sp>
            <p:nvSpPr>
              <p:cNvPr id="80" name="AutoShape 126"/>
              <p:cNvSpPr/>
              <p:nvPr/>
            </p:nvSpPr>
            <p:spPr bwMode="auto">
              <a:xfrm>
                <a:off x="3510757"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81" name="AutoShape 127"/>
              <p:cNvSpPr/>
              <p:nvPr/>
            </p:nvSpPr>
            <p:spPr bwMode="auto">
              <a:xfrm>
                <a:off x="3698875" y="2654300"/>
                <a:ext cx="109538" cy="1087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grpSp>
        <p:nvGrpSpPr>
          <p:cNvPr id="82" name="组合 81"/>
          <p:cNvGrpSpPr/>
          <p:nvPr/>
        </p:nvGrpSpPr>
        <p:grpSpPr>
          <a:xfrm>
            <a:off x="4624381" y="2405371"/>
            <a:ext cx="591538" cy="590635"/>
            <a:chOff x="10565" y="5512"/>
            <a:chExt cx="1310" cy="1308"/>
          </a:xfrm>
        </p:grpSpPr>
        <p:sp>
          <p:nvSpPr>
            <p:cNvPr id="83" name="Rounded Rectangle 14"/>
            <p:cNvSpPr/>
            <p:nvPr/>
          </p:nvSpPr>
          <p:spPr bwMode="auto">
            <a:xfrm>
              <a:off x="10565" y="5512"/>
              <a:ext cx="1310" cy="1308"/>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84" name="AutoShape 139"/>
            <p:cNvSpPr/>
            <p:nvPr/>
          </p:nvSpPr>
          <p:spPr bwMode="auto">
            <a:xfrm>
              <a:off x="10850" y="5822"/>
              <a:ext cx="733" cy="710"/>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ysClr val="window" lastClr="FFFFFF"/>
            </a:solid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nvGrpSpPr>
          <p:cNvPr id="85" name="组合 84"/>
          <p:cNvGrpSpPr/>
          <p:nvPr/>
        </p:nvGrpSpPr>
        <p:grpSpPr>
          <a:xfrm>
            <a:off x="1108386" y="3483781"/>
            <a:ext cx="591538" cy="591538"/>
            <a:chOff x="10565" y="7910"/>
            <a:chExt cx="1310" cy="1310"/>
          </a:xfrm>
        </p:grpSpPr>
        <p:sp>
          <p:nvSpPr>
            <p:cNvPr id="86" name="Rounded Rectangle 15"/>
            <p:cNvSpPr/>
            <p:nvPr/>
          </p:nvSpPr>
          <p:spPr bwMode="auto">
            <a:xfrm>
              <a:off x="10565" y="7910"/>
              <a:ext cx="1310" cy="1310"/>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87" name="Group 46"/>
            <p:cNvGrpSpPr/>
            <p:nvPr/>
          </p:nvGrpSpPr>
          <p:grpSpPr bwMode="auto">
            <a:xfrm>
              <a:off x="10851" y="8279"/>
              <a:ext cx="732" cy="572"/>
              <a:chOff x="2581275" y="1710532"/>
              <a:chExt cx="464344" cy="362744"/>
            </a:xfrm>
            <a:solidFill>
              <a:sysClr val="window" lastClr="FFFFFF"/>
            </a:solidFill>
          </p:grpSpPr>
          <p:sp>
            <p:nvSpPr>
              <p:cNvPr id="88" name="AutoShape 140"/>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89" name="AutoShape 141"/>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0" name="AutoShape 142"/>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1" name="AutoShape 143"/>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2" name="AutoShape 144"/>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3" name="AutoShape 145"/>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4" name="AutoShape 146"/>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cxnSp>
        <p:nvCxnSpPr>
          <p:cNvPr id="95" name="直接连接符 94"/>
          <p:cNvCxnSpPr/>
          <p:nvPr/>
        </p:nvCxnSpPr>
        <p:spPr>
          <a:xfrm>
            <a:off x="1069460" y="2132263"/>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cxnSp>
        <p:nvCxnSpPr>
          <p:cNvPr id="96" name="直接连接符 95"/>
          <p:cNvCxnSpPr/>
          <p:nvPr/>
        </p:nvCxnSpPr>
        <p:spPr>
          <a:xfrm>
            <a:off x="1069460" y="3211126"/>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cxnSp>
        <p:nvCxnSpPr>
          <p:cNvPr id="98" name="直接连接符 97"/>
          <p:cNvCxnSpPr/>
          <p:nvPr/>
        </p:nvCxnSpPr>
        <p:spPr>
          <a:xfrm>
            <a:off x="1069460" y="4289989"/>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sp>
        <p:nvSpPr>
          <p:cNvPr id="99" name="TextBox 76"/>
          <p:cNvSpPr txBox="1"/>
          <p:nvPr/>
        </p:nvSpPr>
        <p:spPr>
          <a:xfrm>
            <a:off x="5292725" y="1115060"/>
            <a:ext cx="3536950" cy="92202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公开市场业务可以灵活精巧的进行，不会像存款准备金政策那样对经济产生过于猛烈的冲击。</a:t>
            </a:r>
            <a:endParaRPr lang="zh-CN" altLang="en-US" sz="1800" b="1">
              <a:ea typeface="华文仿宋"/>
              <a:sym typeface="Arial" panose="020B0604020202020204" pitchFamily="34" charset="0"/>
            </a:endParaRPr>
          </a:p>
        </p:txBody>
      </p:sp>
      <p:sp>
        <p:nvSpPr>
          <p:cNvPr id="100" name="TextBox 76"/>
          <p:cNvSpPr txBox="1"/>
          <p:nvPr/>
        </p:nvSpPr>
        <p:spPr>
          <a:xfrm>
            <a:off x="1836434" y="2376373"/>
            <a:ext cx="2611430" cy="64516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是中央银行进行日常性调节的较为理想的工具。</a:t>
            </a:r>
            <a:endParaRPr lang="zh-CN" altLang="en-US" sz="1800" b="1">
              <a:ea typeface="华文仿宋"/>
              <a:sym typeface="Arial" panose="020B0604020202020204" pitchFamily="34" charset="0"/>
            </a:endParaRPr>
          </a:p>
        </p:txBody>
      </p:sp>
      <p:sp>
        <p:nvSpPr>
          <p:cNvPr id="101" name="TextBox 76"/>
          <p:cNvSpPr txBox="1"/>
          <p:nvPr/>
        </p:nvSpPr>
        <p:spPr>
          <a:xfrm>
            <a:off x="5350030" y="2376373"/>
            <a:ext cx="2785818" cy="64516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公开市场业务具有极强的可逆转性。</a:t>
            </a:r>
            <a:endParaRPr lang="zh-CN" altLang="en-US" sz="1800" b="1">
              <a:ea typeface="华文仿宋"/>
              <a:sym typeface="Arial" panose="020B0604020202020204" pitchFamily="34" charset="0"/>
            </a:endParaRPr>
          </a:p>
        </p:txBody>
      </p:sp>
      <p:sp>
        <p:nvSpPr>
          <p:cNvPr id="103" name="TextBox 76"/>
          <p:cNvSpPr txBox="1"/>
          <p:nvPr/>
        </p:nvSpPr>
        <p:spPr>
          <a:xfrm>
            <a:off x="1834035" y="3455236"/>
            <a:ext cx="2402421" cy="64516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公开市场业务可迅速的操作。</a:t>
            </a:r>
            <a:endParaRPr lang="zh-CN" altLang="en-US" sz="1800" b="1">
              <a:ea typeface="华文仿宋"/>
              <a:sym typeface="Arial" panose="020B0604020202020204" pitchFamily="34" charset="0"/>
            </a:endParaRPr>
          </a:p>
        </p:txBody>
      </p:sp>
      <p:grpSp>
        <p:nvGrpSpPr>
          <p:cNvPr id="2" name="组合 1"/>
          <p:cNvGrpSpPr/>
          <p:nvPr/>
        </p:nvGrpSpPr>
        <p:grpSpPr>
          <a:xfrm rot="0">
            <a:off x="0" y="18034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b="1" dirty="0"/>
                <a:t>03</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p>
          </p:txBody>
        </p:sp>
      </p:grpSp>
      <p:sp>
        <p:nvSpPr>
          <p:cNvPr id="18" name="文本框 3"/>
          <p:cNvSpPr txBox="1"/>
          <p:nvPr/>
        </p:nvSpPr>
        <p:spPr>
          <a:xfrm>
            <a:off x="690880" y="195742"/>
            <a:ext cx="4925060" cy="460375"/>
          </a:xfrm>
          <a:prstGeom prst="rect">
            <a:avLst/>
          </a:prstGeom>
          <a:noFill/>
        </p:spPr>
        <p:txBody>
          <a:bodyPr wrap="square" rtlCol="0">
            <a:spAutoFit/>
          </a:bodyPr>
          <a:p>
            <a:pPr algn="l"/>
            <a:r>
              <a:rPr lang="zh-CN" altLang="en-US" sz="2400" b="1" dirty="0">
                <a:latin typeface="微软雅黑" panose="020B0503020204020204" pitchFamily="34" charset="-122"/>
                <a:ea typeface="微软雅黑" panose="020B0503020204020204" pitchFamily="34" charset="-122"/>
                <a:sym typeface="+mn-ea"/>
              </a:rPr>
              <a:t>公开市场业务的优点</a:t>
            </a:r>
            <a:endParaRPr lang="en-US" altLang="zh-CN" sz="2400" b="1"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76"/>
          <p:cNvSpPr txBox="1"/>
          <p:nvPr/>
        </p:nvSpPr>
        <p:spPr>
          <a:xfrm>
            <a:off x="1836420" y="1437005"/>
            <a:ext cx="6141085" cy="64516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缺乏政策意图的告示作用，其对公众预期的引导作用较差。</a:t>
            </a:r>
            <a:endParaRPr lang="zh-CN" altLang="en-US" sz="1800" b="1">
              <a:ea typeface="华文仿宋"/>
              <a:sym typeface="Arial" panose="020B0604020202020204" pitchFamily="34" charset="0"/>
            </a:endParaRPr>
          </a:p>
          <a:p>
            <a:pPr defTabSz="866775"/>
            <a:endParaRPr lang="zh-CN" altLang="en-US" sz="1800" b="1">
              <a:ea typeface="华文仿宋"/>
              <a:sym typeface="Arial" panose="020B0604020202020204" pitchFamily="34" charset="0"/>
            </a:endParaRPr>
          </a:p>
        </p:txBody>
      </p:sp>
      <p:grpSp>
        <p:nvGrpSpPr>
          <p:cNvPr id="67" name="组合 66"/>
          <p:cNvGrpSpPr/>
          <p:nvPr/>
        </p:nvGrpSpPr>
        <p:grpSpPr>
          <a:xfrm>
            <a:off x="1090013" y="1291303"/>
            <a:ext cx="591538" cy="591538"/>
            <a:chOff x="2219" y="3111"/>
            <a:chExt cx="1310" cy="1310"/>
          </a:xfrm>
        </p:grpSpPr>
        <p:sp>
          <p:nvSpPr>
            <p:cNvPr id="68" name="Rounded Rectangle 6"/>
            <p:cNvSpPr/>
            <p:nvPr/>
          </p:nvSpPr>
          <p:spPr bwMode="auto">
            <a:xfrm>
              <a:off x="2219" y="3111"/>
              <a:ext cx="1310" cy="1310"/>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69" name="Group 33"/>
            <p:cNvGrpSpPr/>
            <p:nvPr/>
          </p:nvGrpSpPr>
          <p:grpSpPr bwMode="auto">
            <a:xfrm>
              <a:off x="2499" y="3420"/>
              <a:ext cx="733" cy="687"/>
              <a:chOff x="5368132" y="3540124"/>
              <a:chExt cx="465138" cy="435768"/>
            </a:xfrm>
            <a:solidFill>
              <a:sysClr val="window" lastClr="FFFFFF"/>
            </a:solidFill>
          </p:grpSpPr>
          <p:sp>
            <p:nvSpPr>
              <p:cNvPr id="70"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71" name="AutoShape 111"/>
              <p:cNvSpPr/>
              <p:nvPr/>
            </p:nvSpPr>
            <p:spPr bwMode="auto">
              <a:xfrm>
                <a:off x="5368132" y="3540124"/>
                <a:ext cx="465138" cy="4357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grpSp>
        <p:nvGrpSpPr>
          <p:cNvPr id="77" name="组合 76"/>
          <p:cNvGrpSpPr/>
          <p:nvPr/>
        </p:nvGrpSpPr>
        <p:grpSpPr>
          <a:xfrm>
            <a:off x="1090013" y="2405371"/>
            <a:ext cx="591538" cy="590635"/>
            <a:chOff x="2219" y="5512"/>
            <a:chExt cx="1310" cy="1308"/>
          </a:xfrm>
        </p:grpSpPr>
        <p:sp>
          <p:nvSpPr>
            <p:cNvPr id="78" name="Rounded Rectangle 7"/>
            <p:cNvSpPr/>
            <p:nvPr/>
          </p:nvSpPr>
          <p:spPr bwMode="auto">
            <a:xfrm>
              <a:off x="2219" y="5512"/>
              <a:ext cx="1310" cy="1308"/>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79" name="Group 39"/>
            <p:cNvGrpSpPr/>
            <p:nvPr/>
          </p:nvGrpSpPr>
          <p:grpSpPr bwMode="auto">
            <a:xfrm>
              <a:off x="2511" y="5801"/>
              <a:ext cx="732" cy="730"/>
              <a:chOff x="3510757" y="2582069"/>
              <a:chExt cx="464344" cy="464344"/>
            </a:xfrm>
            <a:solidFill>
              <a:sysClr val="window" lastClr="FFFFFF"/>
            </a:solidFill>
          </p:grpSpPr>
          <p:sp>
            <p:nvSpPr>
              <p:cNvPr id="80" name="AutoShape 126"/>
              <p:cNvSpPr/>
              <p:nvPr/>
            </p:nvSpPr>
            <p:spPr bwMode="auto">
              <a:xfrm>
                <a:off x="3510757"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81" name="AutoShape 127"/>
              <p:cNvSpPr/>
              <p:nvPr/>
            </p:nvSpPr>
            <p:spPr bwMode="auto">
              <a:xfrm>
                <a:off x="3698875" y="2654300"/>
                <a:ext cx="109538" cy="1087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grpSp>
        <p:nvGrpSpPr>
          <p:cNvPr id="85" name="组合 84"/>
          <p:cNvGrpSpPr/>
          <p:nvPr/>
        </p:nvGrpSpPr>
        <p:grpSpPr>
          <a:xfrm>
            <a:off x="1180141" y="3483781"/>
            <a:ext cx="591538" cy="591538"/>
            <a:chOff x="10565" y="7910"/>
            <a:chExt cx="1310" cy="1310"/>
          </a:xfrm>
        </p:grpSpPr>
        <p:sp>
          <p:nvSpPr>
            <p:cNvPr id="86" name="Rounded Rectangle 15"/>
            <p:cNvSpPr/>
            <p:nvPr/>
          </p:nvSpPr>
          <p:spPr bwMode="auto">
            <a:xfrm>
              <a:off x="10565" y="7910"/>
              <a:ext cx="1310" cy="1310"/>
            </a:xfrm>
            <a:prstGeom prst="roundRect">
              <a:avLst/>
            </a:prstGeom>
            <a:solidFill>
              <a:schemeClr val="accent1"/>
            </a:solidFill>
            <a:ln w="12700" cap="flat" cmpd="sng" algn="ctr">
              <a:noFill/>
              <a:prstDash val="solid"/>
              <a:miter lim="800000"/>
            </a:ln>
            <a:effec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866775">
                <a:defRPr/>
              </a:pPr>
              <a:endParaRPr lang="en-GB" sz="1280" kern="0">
                <a:solidFill>
                  <a:srgbClr val="FFFFFF"/>
                </a:solidFill>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nvGrpSpPr>
            <p:cNvPr id="87" name="Group 46"/>
            <p:cNvGrpSpPr/>
            <p:nvPr/>
          </p:nvGrpSpPr>
          <p:grpSpPr bwMode="auto">
            <a:xfrm>
              <a:off x="10851" y="8279"/>
              <a:ext cx="732" cy="572"/>
              <a:chOff x="2581275" y="1710532"/>
              <a:chExt cx="464344" cy="362744"/>
            </a:xfrm>
            <a:solidFill>
              <a:sysClr val="window" lastClr="FFFFFF"/>
            </a:solidFill>
          </p:grpSpPr>
          <p:sp>
            <p:nvSpPr>
              <p:cNvPr id="88" name="AutoShape 140"/>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89" name="AutoShape 141"/>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0" name="AutoShape 142"/>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1" name="AutoShape 143"/>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2" name="AutoShape 144"/>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3" name="AutoShape 145"/>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sp>
            <p:nvSpPr>
              <p:cNvPr id="94" name="AutoShape 146"/>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p:spPr>
            <p:txBody>
              <a:bodyPr lIns="13546" tIns="13546" rIns="13546" bIns="13546" anchor="ctr"/>
              <a:lstStyle/>
              <a:p>
                <a:pPr algn="ctr" defTabSz="216535">
                  <a:defRPr/>
                </a:pPr>
                <a:endParaRPr lang="en-US" sz="1065" kern="0">
                  <a:solidFill>
                    <a:srgbClr val="FFFFFF"/>
                  </a:solidFill>
                  <a:effectLst>
                    <a:outerShdw blurRad="38100" dist="38100" dir="2700000" algn="tl">
                      <a:srgbClr val="000000"/>
                    </a:outerShdw>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p:txBody>
          </p:sp>
        </p:grpSp>
      </p:grpSp>
      <p:sp>
        <p:nvSpPr>
          <p:cNvPr id="100" name="TextBox 76"/>
          <p:cNvSpPr txBox="1"/>
          <p:nvPr/>
        </p:nvSpPr>
        <p:spPr>
          <a:xfrm>
            <a:off x="1836420" y="2519680"/>
            <a:ext cx="6216650" cy="36830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各种市场因素的变动可能减轻或抵消公开市场业务的影响力。</a:t>
            </a:r>
            <a:endParaRPr lang="zh-CN" altLang="en-US" sz="1800" b="1">
              <a:ea typeface="华文仿宋"/>
              <a:sym typeface="Arial" panose="020B0604020202020204" pitchFamily="34" charset="0"/>
            </a:endParaRPr>
          </a:p>
        </p:txBody>
      </p:sp>
      <p:sp>
        <p:nvSpPr>
          <p:cNvPr id="103" name="TextBox 76"/>
          <p:cNvSpPr txBox="1"/>
          <p:nvPr/>
        </p:nvSpPr>
        <p:spPr>
          <a:xfrm>
            <a:off x="1905635" y="3598545"/>
            <a:ext cx="4446905" cy="368300"/>
          </a:xfrm>
          <a:prstGeom prst="rect">
            <a:avLst/>
          </a:prstGeom>
          <a:noFill/>
        </p:spPr>
        <p:txBody>
          <a:bodyPr wrap="square" rtlCol="0">
            <a:spAutoFit/>
          </a:bodyPr>
          <a:lstStyle/>
          <a:p>
            <a:pPr defTabSz="866775"/>
            <a:r>
              <a:rPr lang="zh-CN" altLang="en-US" sz="1800" b="1">
                <a:ea typeface="华文仿宋"/>
                <a:sym typeface="Arial" panose="020B0604020202020204" pitchFamily="34" charset="0"/>
              </a:rPr>
              <a:t>需要以较为发达的有价证券市场为前提。</a:t>
            </a:r>
            <a:endParaRPr lang="zh-CN" altLang="en-US" sz="1800" b="1">
              <a:ea typeface="华文仿宋"/>
              <a:sym typeface="Arial" panose="020B0604020202020204" pitchFamily="34" charset="0"/>
            </a:endParaRPr>
          </a:p>
        </p:txBody>
      </p:sp>
      <p:grpSp>
        <p:nvGrpSpPr>
          <p:cNvPr id="2" name="组合 1"/>
          <p:cNvGrpSpPr/>
          <p:nvPr/>
        </p:nvGrpSpPr>
        <p:grpSpPr>
          <a:xfrm rot="0">
            <a:off x="0" y="180340"/>
            <a:ext cx="655955" cy="589280"/>
            <a:chOff x="3731085" y="591065"/>
            <a:chExt cx="974857" cy="875766"/>
          </a:xfrm>
        </p:grpSpPr>
        <p:sp>
          <p:nvSpPr>
            <p:cNvPr id="33" name="矩形 32"/>
            <p:cNvSpPr/>
            <p:nvPr/>
          </p:nvSpPr>
          <p:spPr>
            <a:xfrm>
              <a:off x="3731085" y="591065"/>
              <a:ext cx="974857" cy="656824"/>
            </a:xfrm>
            <a:prstGeom prst="rect">
              <a:avLst/>
            </a:prstGeom>
            <a:gradFill>
              <a:gsLst>
                <a:gs pos="0">
                  <a:srgbClr val="1373B7"/>
                </a:gs>
                <a:gs pos="100000">
                  <a:srgbClr val="115D9B"/>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b="1" dirty="0"/>
                <a:t>03</a:t>
              </a:r>
              <a:endParaRPr lang="en-US" sz="2400" b="1" dirty="0"/>
            </a:p>
          </p:txBody>
        </p:sp>
        <p:sp>
          <p:nvSpPr>
            <p:cNvPr id="34" name="矩形 33"/>
            <p:cNvSpPr/>
            <p:nvPr/>
          </p:nvSpPr>
          <p:spPr>
            <a:xfrm>
              <a:off x="3731085" y="1329049"/>
              <a:ext cx="974857" cy="13778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p>
          </p:txBody>
        </p:sp>
      </p:grpSp>
      <p:sp>
        <p:nvSpPr>
          <p:cNvPr id="18" name="文本框 3"/>
          <p:cNvSpPr txBox="1"/>
          <p:nvPr/>
        </p:nvSpPr>
        <p:spPr>
          <a:xfrm>
            <a:off x="690880" y="195742"/>
            <a:ext cx="4925060" cy="460375"/>
          </a:xfrm>
          <a:prstGeom prst="rect">
            <a:avLst/>
          </a:prstGeom>
          <a:noFill/>
        </p:spPr>
        <p:txBody>
          <a:bodyPr wrap="square" rtlCol="0">
            <a:spAutoFit/>
          </a:bodyPr>
          <a:p>
            <a:pPr algn="l"/>
            <a:r>
              <a:rPr lang="zh-CN" altLang="en-US" sz="2400" b="1" dirty="0">
                <a:latin typeface="微软雅黑" panose="020B0503020204020204" pitchFamily="34" charset="-122"/>
                <a:ea typeface="微软雅黑" panose="020B0503020204020204" pitchFamily="34" charset="-122"/>
                <a:sym typeface="+mn-ea"/>
              </a:rPr>
              <a:t>公开市场业务的缺点</a:t>
            </a:r>
            <a:endParaRPr lang="en-US" altLang="zh-CN" sz="2400" b="1" dirty="0">
              <a:latin typeface="微软雅黑" panose="020B0503020204020204" pitchFamily="34" charset="-122"/>
              <a:ea typeface="微软雅黑" panose="020B0503020204020204" pitchFamily="34" charset="-122"/>
              <a:sym typeface="+mn-ea"/>
            </a:endParaRPr>
          </a:p>
        </p:txBody>
      </p:sp>
      <p:cxnSp>
        <p:nvCxnSpPr>
          <p:cNvPr id="3" name="直接连接符 2"/>
          <p:cNvCxnSpPr/>
          <p:nvPr/>
        </p:nvCxnSpPr>
        <p:spPr>
          <a:xfrm>
            <a:off x="1069460" y="2132263"/>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cxnSp>
        <p:nvCxnSpPr>
          <p:cNvPr id="4" name="直接连接符 3"/>
          <p:cNvCxnSpPr/>
          <p:nvPr/>
        </p:nvCxnSpPr>
        <p:spPr>
          <a:xfrm>
            <a:off x="1069460" y="3211126"/>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cxnSp>
        <p:nvCxnSpPr>
          <p:cNvPr id="5" name="直接连接符 4"/>
          <p:cNvCxnSpPr/>
          <p:nvPr/>
        </p:nvCxnSpPr>
        <p:spPr>
          <a:xfrm>
            <a:off x="1069460" y="4289989"/>
            <a:ext cx="6817169" cy="0"/>
          </a:xfrm>
          <a:prstGeom prst="line">
            <a:avLst/>
          </a:prstGeom>
          <a:noFill/>
          <a:ln w="12700" cap="flat" cmpd="sng" algn="ctr">
            <a:solidFill>
              <a:schemeClr val="accent1">
                <a:shade val="50000"/>
              </a:schemeClr>
            </a:solidFill>
            <a:prstDash val="solid"/>
            <a:miter lim="800000"/>
          </a:ln>
          <a:effectLst>
            <a:outerShdw blurRad="6350" dist="2540" dir="5400000" algn="t" rotWithShape="0">
              <a:prstClr val="black">
                <a:alpha val="40000"/>
              </a:prstClr>
            </a:outerShdw>
          </a:effectLst>
        </p:spPr>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685" y="1192"/>
          <a:ext cx="1191" cy="1191"/>
        </p:xfrm>
        <a:graphic>
          <a:graphicData uri="http://schemas.openxmlformats.org/presentationml/2006/ole">
            <mc:AlternateContent xmlns:mc="http://schemas.openxmlformats.org/markup-compatibility/2006">
              <mc:Choice xmlns:v="urn:schemas-microsoft-com:vml" Requires="v">
                <p:oleObj spid="_x0000_s1063" name="think-cell Slide" r:id="rId2" imgW="9525" imgH="9525" progId="TCLayout.ActiveDocument.1">
                  <p:embed/>
                </p:oleObj>
              </mc:Choice>
              <mc:Fallback>
                <p:oleObj name="think-cell Slide" r:id="rId2" imgW="9525" imgH="9525" progId="TCLayout.ActiveDocument.1">
                  <p:embed/>
                  <p:pic>
                    <p:nvPicPr>
                      <p:cNvPr id="0" name="图片 1050"/>
                      <p:cNvPicPr/>
                      <p:nvPr/>
                    </p:nvPicPr>
                    <p:blipFill>
                      <a:blip r:embed="rId3"/>
                      <a:stretch>
                        <a:fillRect/>
                      </a:stretch>
                    </p:blipFill>
                    <p:spPr>
                      <a:xfrm>
                        <a:off x="1685" y="1192"/>
                        <a:ext cx="1191" cy="1191"/>
                      </a:xfrm>
                      <a:prstGeom prst="rect">
                        <a:avLst/>
                      </a:prstGeom>
                    </p:spPr>
                  </p:pic>
                </p:oleObj>
              </mc:Fallback>
            </mc:AlternateContent>
          </a:graphicData>
        </a:graphic>
      </p:graphicFrame>
      <p:sp>
        <p:nvSpPr>
          <p:cNvPr id="2" name="矩形 1" hidden="1"/>
          <p:cNvSpPr/>
          <p:nvPr>
            <p:custDataLst>
              <p:tags r:id="rId4"/>
            </p:custDataLst>
          </p:nvPr>
        </p:nvSpPr>
        <p:spPr>
          <a:xfrm>
            <a:off x="494" y="0"/>
            <a:ext cx="119054" cy="119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latin typeface="Arial" panose="020B0604020202020204" pitchFamily="34" charset="0"/>
              <a:ea typeface="微软雅黑" panose="020B0503020204020204" pitchFamily="34" charset="-122"/>
              <a:cs typeface="+mj-cs"/>
              <a:sym typeface="Arial" panose="020B0604020202020204" pitchFamily="34" charset="0"/>
            </a:endParaRPr>
          </a:p>
        </p:txBody>
      </p:sp>
      <p:grpSp>
        <p:nvGrpSpPr>
          <p:cNvPr id="5" name="组合 4"/>
          <p:cNvGrpSpPr/>
          <p:nvPr/>
        </p:nvGrpSpPr>
        <p:grpSpPr>
          <a:xfrm>
            <a:off x="5148081" y="916134"/>
            <a:ext cx="3402957" cy="3415387"/>
            <a:chOff x="5148858" y="916360"/>
            <a:chExt cx="3403797" cy="3416230"/>
          </a:xfrm>
        </p:grpSpPr>
        <p:sp>
          <p:nvSpPr>
            <p:cNvPr id="11" name="空心弧 10"/>
            <p:cNvSpPr/>
            <p:nvPr/>
          </p:nvSpPr>
          <p:spPr>
            <a:xfrm rot="9058792">
              <a:off x="5162499" y="941975"/>
              <a:ext cx="3390156" cy="3390615"/>
            </a:xfrm>
            <a:prstGeom prst="blockArc">
              <a:avLst>
                <a:gd name="adj1" fmla="val 12553498"/>
                <a:gd name="adj2" fmla="val 21168193"/>
                <a:gd name="adj3" fmla="val 5334"/>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solidFill>
                  <a:schemeClr val="tx1"/>
                </a:solidFill>
              </a:endParaRPr>
            </a:p>
          </p:txBody>
        </p:sp>
        <p:sp>
          <p:nvSpPr>
            <p:cNvPr id="9" name="空心弧 8"/>
            <p:cNvSpPr/>
            <p:nvPr/>
          </p:nvSpPr>
          <p:spPr>
            <a:xfrm>
              <a:off x="5148858" y="916360"/>
              <a:ext cx="3390156" cy="3390615"/>
            </a:xfrm>
            <a:prstGeom prst="blockArc">
              <a:avLst>
                <a:gd name="adj1" fmla="val 9123074"/>
                <a:gd name="adj2" fmla="val 21168193"/>
                <a:gd name="adj3" fmla="val 5334"/>
              </a:avLst>
            </a:prstGeom>
            <a:solidFill>
              <a:srgbClr val="245D9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solidFill>
                  <a:schemeClr val="tx1"/>
                </a:solidFill>
              </a:endParaRPr>
            </a:p>
          </p:txBody>
        </p:sp>
      </p:grpSp>
      <p:sp>
        <p:nvSpPr>
          <p:cNvPr id="10" name="矩形 9"/>
          <p:cNvSpPr/>
          <p:nvPr/>
        </p:nvSpPr>
        <p:spPr>
          <a:xfrm>
            <a:off x="493" y="3219821"/>
            <a:ext cx="5348354" cy="205316"/>
          </a:xfrm>
          <a:prstGeom prst="rect">
            <a:avLst/>
          </a:prstGeom>
          <a:solidFill>
            <a:srgbClr val="245D9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p>
        </p:txBody>
      </p:sp>
      <p:sp>
        <p:nvSpPr>
          <p:cNvPr id="12" name="矩形 11"/>
          <p:cNvSpPr/>
          <p:nvPr/>
        </p:nvSpPr>
        <p:spPr>
          <a:xfrm rot="10800000">
            <a:off x="8358173" y="2586827"/>
            <a:ext cx="854229" cy="1755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6" rIns="68571" bIns="34286" rtlCol="0" anchor="ctr"/>
          <a:lstStyle/>
          <a:p>
            <a:pPr algn="ctr"/>
            <a:endParaRPr lang="zh-CN" altLang="en-US"/>
          </a:p>
        </p:txBody>
      </p:sp>
      <p:sp>
        <p:nvSpPr>
          <p:cNvPr id="18" name="矩形 259"/>
          <p:cNvSpPr>
            <a:spLocks noChangeArrowheads="1"/>
          </p:cNvSpPr>
          <p:nvPr/>
        </p:nvSpPr>
        <p:spPr bwMode="auto">
          <a:xfrm>
            <a:off x="618649" y="1391444"/>
            <a:ext cx="4150995" cy="830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5400" b="1" cap="all" dirty="0">
                <a:solidFill>
                  <a:srgbClr val="245D90"/>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谢谢观看</a:t>
            </a:r>
            <a:endParaRPr lang="zh-CN" altLang="en-US" sz="5400" b="1" cap="all" dirty="0">
              <a:solidFill>
                <a:srgbClr val="245D90"/>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sp>
        <p:nvSpPr>
          <p:cNvPr id="20" name="矩形 259"/>
          <p:cNvSpPr>
            <a:spLocks noChangeArrowheads="1"/>
          </p:cNvSpPr>
          <p:nvPr/>
        </p:nvSpPr>
        <p:spPr bwMode="auto">
          <a:xfrm>
            <a:off x="315595" y="2435860"/>
            <a:ext cx="476694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400" b="1" i="1" dirty="0">
                <a:solidFill>
                  <a:schemeClr val="tx1"/>
                </a:solidFill>
                <a:latin typeface="Times New Roman" panose="02020603050405020304" charset="0"/>
                <a:cs typeface="Times New Roman" panose="02020603050405020304" charset="0"/>
                <a:sym typeface="+mn-ea"/>
              </a:rPr>
              <a:t>THANKS FOR WATCHING</a:t>
            </a:r>
            <a:endParaRPr lang="en-US" altLang="zh-CN" sz="2400" b="1" i="1" dirty="0">
              <a:solidFill>
                <a:schemeClr val="tx1"/>
              </a:solidFill>
              <a:latin typeface="Times New Roman" panose="02020603050405020304" charset="0"/>
              <a:cs typeface="Times New Roman" panose="02020603050405020304" charset="0"/>
              <a:sym typeface="+mn-ea"/>
            </a:endParaRPr>
          </a:p>
        </p:txBody>
      </p:sp>
      <p:pic>
        <p:nvPicPr>
          <p:cNvPr id="4" name="图片 3" descr="src=http_%2F%2Fdpic.tiankong.com%2Fl9%2Fc6%2FQJ9109085842.jpg&amp;refer=http_%2F%2Fdpic.tiankong"/>
          <p:cNvPicPr>
            <a:picLocks noChangeAspect="1"/>
          </p:cNvPicPr>
          <p:nvPr/>
        </p:nvPicPr>
        <p:blipFill>
          <a:blip r:embed="rId5"/>
          <a:srcRect l="34517" t="804" r="3617" b="1383"/>
          <a:stretch>
            <a:fillRect/>
          </a:stretch>
        </p:blipFill>
        <p:spPr>
          <a:xfrm>
            <a:off x="5375275" y="1144270"/>
            <a:ext cx="2934335" cy="2934335"/>
          </a:xfrm>
          <a:prstGeom prst="ellipse">
            <a:avLst/>
          </a:prstGeom>
        </p:spPr>
      </p:pic>
      <p:sp>
        <p:nvSpPr>
          <p:cNvPr id="17" name="椭圆 16"/>
          <p:cNvSpPr/>
          <p:nvPr/>
        </p:nvSpPr>
        <p:spPr>
          <a:xfrm>
            <a:off x="5374005" y="1143635"/>
            <a:ext cx="2935605" cy="2934970"/>
          </a:xfrm>
          <a:prstGeom prst="ellipse">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122 - 副本"/>
          <p:cNvPicPr>
            <a:picLocks noChangeAspect="1"/>
          </p:cNvPicPr>
          <p:nvPr/>
        </p:nvPicPr>
        <p:blipFill>
          <a:blip r:embed="rId6"/>
          <a:stretch>
            <a:fillRect/>
          </a:stretch>
        </p:blipFill>
        <p:spPr>
          <a:xfrm>
            <a:off x="97155" y="32385"/>
            <a:ext cx="1799590" cy="633095"/>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p14:dur="500">
        <p:pull/>
      </p:transition>
    </mc:Choice>
    <mc:Fallback>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wedge">
                                      <p:cBhvr>
                                        <p:cTn id="7" dur="500"/>
                                        <p:tgtEl>
                                          <p:spTgt spid="10"/>
                                        </p:tgtEl>
                                      </p:cBhvr>
                                    </p:animEffect>
                                  </p:childTnLst>
                                </p:cTn>
                              </p:par>
                              <p:par>
                                <p:cTn id="8" presetID="20" presetClass="entr" presetSubtype="0" fill="hold" grpId="0" nodeType="withEffect">
                                  <p:stCondLst>
                                    <p:cond delay="0"/>
                                  </p:stCondLst>
                                  <p:childTnLst>
                                    <p:set>
                                      <p:cBhvr>
                                        <p:cTn id="9" dur="500" fill="hold">
                                          <p:stCondLst>
                                            <p:cond delay="0"/>
                                          </p:stCondLst>
                                        </p:cTn>
                                        <p:tgtEl>
                                          <p:spTgt spid="18"/>
                                        </p:tgtEl>
                                        <p:attrNameLst>
                                          <p:attrName>style.visibility</p:attrName>
                                        </p:attrNameLst>
                                      </p:cBhvr>
                                      <p:to>
                                        <p:strVal val="visible"/>
                                      </p:to>
                                    </p:set>
                                    <p:animEffect transition="in" filter="wedge">
                                      <p:cBhvr>
                                        <p:cTn id="10" dur="500"/>
                                        <p:tgtEl>
                                          <p:spTgt spid="18"/>
                                        </p:tgtEl>
                                      </p:cBhvr>
                                    </p:animEffect>
                                  </p:childTnLst>
                                </p:cTn>
                              </p:par>
                              <p:par>
                                <p:cTn id="11" presetID="20" presetClass="entr" presetSubtype="0" fill="hold" grpId="0" nodeType="withEffect">
                                  <p:stCondLst>
                                    <p:cond delay="0"/>
                                  </p:stCondLst>
                                  <p:childTnLst>
                                    <p:set>
                                      <p:cBhvr>
                                        <p:cTn id="12" dur="500" fill="hold">
                                          <p:stCondLst>
                                            <p:cond delay="0"/>
                                          </p:stCondLst>
                                        </p:cTn>
                                        <p:tgtEl>
                                          <p:spTgt spid="20"/>
                                        </p:tgtEl>
                                        <p:attrNameLst>
                                          <p:attrName>style.visibility</p:attrName>
                                        </p:attrNameLst>
                                      </p:cBhvr>
                                      <p:to>
                                        <p:strVal val="visible"/>
                                      </p:to>
                                    </p:set>
                                    <p:animEffect transition="in" filter="wedge">
                                      <p:cBhvr>
                                        <p:cTn id="13" dur="500"/>
                                        <p:tgtEl>
                                          <p:spTgt spid="20"/>
                                        </p:tgtEl>
                                      </p:cBhvr>
                                    </p:animEffect>
                                  </p:childTnLst>
                                </p:cTn>
                              </p:par>
                              <p:par>
                                <p:cTn id="14" presetID="20" presetClass="entr" presetSubtype="0" fill="hold" nodeType="withEffect">
                                  <p:stCondLst>
                                    <p:cond delay="0"/>
                                  </p:stCondLst>
                                  <p:childTnLst>
                                    <p:set>
                                      <p:cBhvr>
                                        <p:cTn id="15" dur="500" fill="hold">
                                          <p:stCondLst>
                                            <p:cond delay="0"/>
                                          </p:stCondLst>
                                        </p:cTn>
                                        <p:tgtEl>
                                          <p:spTgt spid="4"/>
                                        </p:tgtEl>
                                        <p:attrNameLst>
                                          <p:attrName>style.visibility</p:attrName>
                                        </p:attrNameLst>
                                      </p:cBhvr>
                                      <p:to>
                                        <p:strVal val="visible"/>
                                      </p:to>
                                    </p:set>
                                    <p:animEffect transition="in" filter="wedge">
                                      <p:cBhvr>
                                        <p:cTn id="16" dur="500"/>
                                        <p:tgtEl>
                                          <p:spTgt spid="4"/>
                                        </p:tgtEl>
                                      </p:cBhvr>
                                    </p:animEffect>
                                  </p:childTnLst>
                                </p:cTn>
                              </p:par>
                              <p:par>
                                <p:cTn id="17" presetID="20" presetClass="entr" presetSubtype="0" fill="hold" grpId="0" nodeType="withEffect">
                                  <p:stCondLst>
                                    <p:cond delay="0"/>
                                  </p:stCondLst>
                                  <p:childTnLst>
                                    <p:set>
                                      <p:cBhvr>
                                        <p:cTn id="18" dur="500" fill="hold">
                                          <p:stCondLst>
                                            <p:cond delay="0"/>
                                          </p:stCondLst>
                                        </p:cTn>
                                        <p:tgtEl>
                                          <p:spTgt spid="17"/>
                                        </p:tgtEl>
                                        <p:attrNameLst>
                                          <p:attrName>style.visibility</p:attrName>
                                        </p:attrNameLst>
                                      </p:cBhvr>
                                      <p:to>
                                        <p:strVal val="visible"/>
                                      </p:to>
                                    </p:set>
                                    <p:animEffect transition="in" filter="wedge">
                                      <p:cBhvr>
                                        <p:cTn id="19" dur="500"/>
                                        <p:tgtEl>
                                          <p:spTgt spid="17"/>
                                        </p:tgtEl>
                                      </p:cBhvr>
                                    </p:animEffect>
                                  </p:childTnLst>
                                </p:cTn>
                              </p:par>
                              <p:par>
                                <p:cTn id="20" presetID="20" presetClass="entr" presetSubtype="0" fill="hold" nodeType="withEffect">
                                  <p:stCondLst>
                                    <p:cond delay="0"/>
                                  </p:stCondLst>
                                  <p:childTnLst>
                                    <p:set>
                                      <p:cBhvr>
                                        <p:cTn id="21" dur="500" fill="hold">
                                          <p:stCondLst>
                                            <p:cond delay="0"/>
                                          </p:stCondLst>
                                        </p:cTn>
                                        <p:tgtEl>
                                          <p:spTgt spid="6"/>
                                        </p:tgtEl>
                                        <p:attrNameLst>
                                          <p:attrName>style.visibility</p:attrName>
                                        </p:attrNameLst>
                                      </p:cBhvr>
                                      <p:to>
                                        <p:strVal val="visible"/>
                                      </p:to>
                                    </p:set>
                                    <p:animEffect transition="in" filter="wedge">
                                      <p:cBhvr>
                                        <p:cTn id="22" dur="500"/>
                                        <p:tgtEl>
                                          <p:spTgt spid="6"/>
                                        </p:tgtEl>
                                      </p:cBhvr>
                                    </p:animEffect>
                                  </p:childTnLst>
                                </p:cTn>
                              </p:par>
                              <p:par>
                                <p:cTn id="23" presetID="20" presetClass="entr" presetSubtype="0" fill="hold" nodeType="withEffect">
                                  <p:stCondLst>
                                    <p:cond delay="0"/>
                                  </p:stCondLst>
                                  <p:childTnLst>
                                    <p:set>
                                      <p:cBhvr>
                                        <p:cTn id="24" dur="500" fill="hold">
                                          <p:stCondLst>
                                            <p:cond delay="0"/>
                                          </p:stCondLst>
                                        </p:cTn>
                                        <p:tgtEl>
                                          <p:spTgt spid="5"/>
                                        </p:tgtEl>
                                        <p:attrNameLst>
                                          <p:attrName>style.visibility</p:attrName>
                                        </p:attrNameLst>
                                      </p:cBhvr>
                                      <p:to>
                                        <p:strVal val="visible"/>
                                      </p:to>
                                    </p:set>
                                    <p:animEffect transition="in" filter="wedge">
                                      <p:cBhvr>
                                        <p:cTn id="25" dur="500"/>
                                        <p:tgtEl>
                                          <p:spTgt spid="5"/>
                                        </p:tgtEl>
                                      </p:cBhvr>
                                    </p:animEffect>
                                  </p:childTnLst>
                                </p:cTn>
                              </p:par>
                              <p:par>
                                <p:cTn id="26" presetID="20" presetClass="entr" presetSubtype="0" fill="hold" grpId="0" nodeType="withEffect">
                                  <p:stCondLst>
                                    <p:cond delay="0"/>
                                  </p:stCondLst>
                                  <p:childTnLst>
                                    <p:set>
                                      <p:cBhvr>
                                        <p:cTn id="27" dur="500" fill="hold">
                                          <p:stCondLst>
                                            <p:cond delay="0"/>
                                          </p:stCondLst>
                                        </p:cTn>
                                        <p:tgtEl>
                                          <p:spTgt spid="12"/>
                                        </p:tgtEl>
                                        <p:attrNameLst>
                                          <p:attrName>style.visibility</p:attrName>
                                        </p:attrNameLst>
                                      </p:cBhvr>
                                      <p:to>
                                        <p:strVal val="visible"/>
                                      </p:to>
                                    </p:set>
                                    <p:animEffect transition="in" filter="wedg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0" grpId="0"/>
      <p:bldP spid="17" grpId="0" animBg="1"/>
      <p:bldP spid="12" grpId="0" animBg="1"/>
    </p:bldLst>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A6S0wzOvQ8a50SA42PUNRg"/>
</p:tagLst>
</file>

<file path=ppt/tags/tag3.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4.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5.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6.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7.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8.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9.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0.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1.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2.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3.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4.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5.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6.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7.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8.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19.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20.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21.xml><?xml version="1.0" encoding="utf-8"?>
<p:tagLst xmlns:p="http://schemas.openxmlformats.org/presentationml/2006/main">
  <p:tag name="KSO_WM_DIAGRAM_VIRTUALLY_FRAME" val="{&quot;height&quot;:279.7136220472441,&quot;left&quot;:-9.767480314960642,&quot;top&quot;:73.44417322834644,&quot;width&quot;:695.3174803149607}"/>
</p:tagLst>
</file>

<file path=ppt/tags/tag22.xml><?xml version="1.0" encoding="utf-8"?>
<p:tagLst xmlns:p="http://schemas.openxmlformats.org/presentationml/2006/main">
  <p:tag name="KSO_WM_DIAGRAM_VIRTUALLY_FRAME" val="{&quot;height&quot;:328.9,&quot;left&quot;:148.05,&quot;top&quot;:57.7,&quot;width&quot;:558.2148031496063}"/>
</p:tagLst>
</file>

<file path=ppt/tags/tag23.xml><?xml version="1.0" encoding="utf-8"?>
<p:tagLst xmlns:p="http://schemas.openxmlformats.org/presentationml/2006/main">
  <p:tag name="KSO_WM_DIAGRAM_VIRTUALLY_FRAME" val="{&quot;height&quot;:328.9,&quot;left&quot;:148.05,&quot;top&quot;:57.7,&quot;width&quot;:558.2148031496063}"/>
</p:tagLst>
</file>

<file path=ppt/tags/tag24.xml><?xml version="1.0" encoding="utf-8"?>
<p:tagLst xmlns:p="http://schemas.openxmlformats.org/presentationml/2006/main">
  <p:tag name="KSO_WM_DIAGRAM_VIRTUALLY_FRAME" val="{&quot;height&quot;:328.9,&quot;left&quot;:148.05,&quot;top&quot;:57.7,&quot;width&quot;:558.2148031496063}"/>
</p:tagLst>
</file>

<file path=ppt/tags/tag25.xml><?xml version="1.0" encoding="utf-8"?>
<p:tagLst xmlns:p="http://schemas.openxmlformats.org/presentationml/2006/main">
  <p:tag name="KSO_WM_DIAGRAM_VIRTUALLY_FRAME" val="{&quot;height&quot;:328.9,&quot;left&quot;:148.05,&quot;top&quot;:57.7,&quot;width&quot;:558.2148031496063}"/>
</p:tagLst>
</file>

<file path=ppt/tags/tag26.xml><?xml version="1.0" encoding="utf-8"?>
<p:tagLst xmlns:p="http://schemas.openxmlformats.org/presentationml/2006/main">
  <p:tag name="KSO_WM_DIAGRAM_VIRTUALLY_FRAME" val="{&quot;height&quot;:328.9,&quot;left&quot;:148.05,&quot;top&quot;:57.7,&quot;width&quot;:558.2148031496063}"/>
</p:tagLst>
</file>

<file path=ppt/tags/tag27.xml><?xml version="1.0" encoding="utf-8"?>
<p:tagLst xmlns:p="http://schemas.openxmlformats.org/presentationml/2006/main">
  <p:tag name="KSO_WM_DIAGRAM_VIRTUALLY_FRAME" val="{&quot;height&quot;:328.9,&quot;left&quot;:148.05,&quot;top&quot;:57.7,&quot;width&quot;:558.2148031496063}"/>
</p:tagLst>
</file>

<file path=ppt/tags/tag28.xml><?xml version="1.0" encoding="utf-8"?>
<p:tagLst xmlns:p="http://schemas.openxmlformats.org/presentationml/2006/main">
  <p:tag name="KSO_WM_DIAGRAM_VIRTUALLY_FRAME" val="{&quot;height&quot;:328.9,&quot;left&quot;:148.05,&quot;top&quot;:57.7,&quot;width&quot;:558.2148031496063}"/>
</p:tagLst>
</file>

<file path=ppt/tags/tag29.xml><?xml version="1.0" encoding="utf-8"?>
<p:tagLst xmlns:p="http://schemas.openxmlformats.org/presentationml/2006/main">
  <p:tag name="KSO_WM_DIAGRAM_VIRTUALLY_FRAME" val="{&quot;height&quot;:328.9,&quot;left&quot;:148.05,&quot;top&quot;:57.7,&quot;width&quot;:558.2148031496063}"/>
</p:tagLst>
</file>

<file path=ppt/tags/tag30.xml><?xml version="1.0" encoding="utf-8"?>
<p:tagLst xmlns:p="http://schemas.openxmlformats.org/presentationml/2006/main">
  <p:tag name="KSO_WM_DIAGRAM_VIRTUALLY_FRAME" val="{&quot;height&quot;:328.9,&quot;left&quot;:148.05,&quot;top&quot;:57.7,&quot;width&quot;:558.2148031496063}"/>
</p:tagLst>
</file>

<file path=ppt/tags/tag31.xml><?xml version="1.0" encoding="utf-8"?>
<p:tagLst xmlns:p="http://schemas.openxmlformats.org/presentationml/2006/main">
  <p:tag name="KSO_WM_DIAGRAM_VIRTUALLY_FRAME" val="{&quot;height&quot;:328.9,&quot;left&quot;:148.05,&quot;top&quot;:57.7,&quot;width&quot;:558.2148031496063}"/>
</p:tagLst>
</file>

<file path=ppt/tags/tag32.xml><?xml version="1.0" encoding="utf-8"?>
<p:tagLst xmlns:p="http://schemas.openxmlformats.org/presentationml/2006/main">
  <p:tag name="KSO_WM_DIAGRAM_VIRTUALLY_FRAME" val="{&quot;height&quot;:328.9,&quot;left&quot;:148.05,&quot;top&quot;:57.7,&quot;width&quot;:558.2148031496063}"/>
</p:tagLst>
</file>

<file path=ppt/tags/tag33.xml><?xml version="1.0" encoding="utf-8"?>
<p:tagLst xmlns:p="http://schemas.openxmlformats.org/presentationml/2006/main">
  <p:tag name="KSO_WM_DIAGRAM_VIRTUALLY_FRAME" val="{&quot;height&quot;:328.9,&quot;left&quot;:148.05,&quot;top&quot;:57.7,&quot;width&quot;:558.2148031496063}"/>
</p:tagLst>
</file>

<file path=ppt/tags/tag34.xml><?xml version="1.0" encoding="utf-8"?>
<p:tagLst xmlns:p="http://schemas.openxmlformats.org/presentationml/2006/main">
  <p:tag name="KSO_WM_DIAGRAM_VIRTUALLY_FRAME" val="{&quot;height&quot;:328.9,&quot;left&quot;:148.05,&quot;top&quot;:57.7,&quot;width&quot;:558.2148031496063}"/>
</p:tagLst>
</file>

<file path=ppt/tags/tag35.xml><?xml version="1.0" encoding="utf-8"?>
<p:tagLst xmlns:p="http://schemas.openxmlformats.org/presentationml/2006/main">
  <p:tag name="KSO_WM_DIAGRAM_VIRTUALLY_FRAME" val="{&quot;height&quot;:328.9,&quot;left&quot;:148.05,&quot;top&quot;:57.7,&quot;width&quot;:558.2148031496063}"/>
</p:tagLst>
</file>

<file path=ppt/tags/tag36.xml><?xml version="1.0" encoding="utf-8"?>
<p:tagLst xmlns:p="http://schemas.openxmlformats.org/presentationml/2006/main">
  <p:tag name="KSO_WM_DIAGRAM_VIRTUALLY_FRAME" val="{&quot;height&quot;:328.9,&quot;left&quot;:148.05,&quot;top&quot;:57.7,&quot;width&quot;:558.2148031496063}"/>
</p:tagLst>
</file>

<file path=ppt/tags/tag37.xml><?xml version="1.0" encoding="utf-8"?>
<p:tagLst xmlns:p="http://schemas.openxmlformats.org/presentationml/2006/main">
  <p:tag name="KSO_WM_DIAGRAM_VIRTUALLY_FRAME" val="{&quot;height&quot;:328.9,&quot;left&quot;:148.05,&quot;top&quot;:57.7,&quot;width&quot;:558.2148031496063}"/>
</p:tagLst>
</file>

<file path=ppt/tags/tag38.xml><?xml version="1.0" encoding="utf-8"?>
<p:tagLst xmlns:p="http://schemas.openxmlformats.org/presentationml/2006/main">
  <p:tag name="KSO_WM_DIAGRAM_VIRTUALLY_FRAME" val="{&quot;height&quot;:328.9,&quot;left&quot;:148.05,&quot;top&quot;:57.7,&quot;width&quot;:558.2148031496063}"/>
</p:tagLst>
</file>

<file path=ppt/tags/tag39.xml><?xml version="1.0" encoding="utf-8"?>
<p:tagLst xmlns:p="http://schemas.openxmlformats.org/presentationml/2006/main">
  <p:tag name="KSO_WM_DIAGRAM_VIRTUALLY_FRAME" val="{&quot;height&quot;:328.9,&quot;left&quot;:148.05,&quot;top&quot;:57.7,&quot;width&quot;:558.2148031496063}"/>
</p:tagLst>
</file>

<file path=ppt/tags/tag40.xml><?xml version="1.0" encoding="utf-8"?>
<p:tagLst xmlns:p="http://schemas.openxmlformats.org/presentationml/2006/main">
  <p:tag name="KSO_WM_DIAGRAM_VIRTUALLY_FRAME" val="{&quot;height&quot;:328.9,&quot;left&quot;:148.05,&quot;top&quot;:57.7,&quot;width&quot;:558.2148031496063}"/>
</p:tagLst>
</file>

<file path=ppt/tags/tag41.xml><?xml version="1.0" encoding="utf-8"?>
<p:tagLst xmlns:p="http://schemas.openxmlformats.org/presentationml/2006/main">
  <p:tag name="KSO_WM_DIAGRAM_VIRTUALLY_FRAME" val="{&quot;height&quot;:328.9,&quot;left&quot;:148.05,&quot;top&quot;:57.7,&quot;width&quot;:558.2148031496063}"/>
</p:tagLst>
</file>

<file path=ppt/tags/tag42.xml><?xml version="1.0" encoding="utf-8"?>
<p:tagLst xmlns:p="http://schemas.openxmlformats.org/presentationml/2006/main">
  <p:tag name="THINKCELLSHAPEDONOTDELETE" val="thinkcellActiveDocDoNotDelete"/>
</p:tagLst>
</file>

<file path=ppt/tags/tag43.xml><?xml version="1.0" encoding="utf-8"?>
<p:tagLst xmlns:p="http://schemas.openxmlformats.org/presentationml/2006/main">
  <p:tag name="THINKCELLSHAPEDONOTDELETE" val="tA6S0wzOvQ8a50SA42PUNRg"/>
</p:tagLst>
</file>

<file path=ppt/tags/tag44.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45.xml><?xml version="1.0" encoding="utf-8"?>
<p:tagLst xmlns:p="http://schemas.openxmlformats.org/presentationml/2006/main">
  <p:tag name="ISPRING_PRESENTATION_TITLE" val="Write Your Title Here"/>
  <p:tag name="COMMONDATA" val="eyJoZGlkIjoiM2YzMTQ0OWI2NDI4YjAxZThlZTY2YzQ3MzYyNzEzY2YifQ=="/>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1135</Words>
  <Application>WPS 演示</Application>
  <PresentationFormat>全屏显示(16:9)</PresentationFormat>
  <Paragraphs>158</Paragraphs>
  <Slides>17</Slides>
  <Notes>36</Notes>
  <HiddenSlides>0</HiddenSlides>
  <MMClips>1</MMClips>
  <ScaleCrop>false</ScaleCrop>
  <HeadingPairs>
    <vt:vector size="8" baseType="variant">
      <vt:variant>
        <vt:lpstr>已用的字体</vt:lpstr>
      </vt:variant>
      <vt:variant>
        <vt:i4>15</vt:i4>
      </vt:variant>
      <vt:variant>
        <vt:lpstr>主题</vt:lpstr>
      </vt:variant>
      <vt:variant>
        <vt:i4>5</vt:i4>
      </vt:variant>
      <vt:variant>
        <vt:lpstr>嵌入 OLE 服务器</vt:lpstr>
      </vt:variant>
      <vt:variant>
        <vt:i4>2</vt:i4>
      </vt:variant>
      <vt:variant>
        <vt:lpstr>幻灯片标题</vt:lpstr>
      </vt:variant>
      <vt:variant>
        <vt:i4>17</vt:i4>
      </vt:variant>
    </vt:vector>
  </HeadingPairs>
  <TitlesOfParts>
    <vt:vector size="39" baseType="lpstr">
      <vt:lpstr>Arial</vt:lpstr>
      <vt:lpstr>宋体</vt:lpstr>
      <vt:lpstr>Wingdings</vt:lpstr>
      <vt:lpstr>微软雅黑</vt:lpstr>
      <vt:lpstr>Calibri</vt:lpstr>
      <vt:lpstr>Impact</vt:lpstr>
      <vt:lpstr>Times New Roman</vt:lpstr>
      <vt:lpstr>汉仪雅酷黑 75W</vt:lpstr>
      <vt:lpstr>Century Gothic</vt:lpstr>
      <vt:lpstr>黑体</vt:lpstr>
      <vt:lpstr>Roboto Light</vt:lpstr>
      <vt:lpstr>华文仿宋</vt:lpstr>
      <vt:lpstr>仿宋</vt:lpstr>
      <vt:lpstr>Arial Unicode MS</vt:lpstr>
      <vt:lpstr>Segoe Print</vt:lpstr>
      <vt:lpstr>Office 主题</vt:lpstr>
      <vt:lpstr>4_Office 主题</vt:lpstr>
      <vt:lpstr>Office 主题</vt:lpstr>
      <vt:lpstr>3_Office 主题</vt:lpstr>
      <vt:lpstr>1_Office 主题</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keywords>www.tukuppt.com</cp:keywords>
  <cp:lastModifiedBy>左岸</cp:lastModifiedBy>
  <cp:revision>285</cp:revision>
  <dcterms:created xsi:type="dcterms:W3CDTF">2015-12-11T17:46:00Z</dcterms:created>
  <dcterms:modified xsi:type="dcterms:W3CDTF">2025-04-08T08:20:52Z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BCFFCB363123489A8F5F8BBDB2F54816_13</vt:lpwstr>
  </property>
</Properties>
</file>